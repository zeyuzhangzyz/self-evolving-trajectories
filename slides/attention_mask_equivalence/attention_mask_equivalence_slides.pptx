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685800" y="1005840"/>
            <a:ext cx="10789920" cy="594360"/>
          </a:xfrm>
          <a:prstGeom prst="rect">
            <a:avLst/>
          </a:prstGeom>
          <a:noFill/>
        </p:spPr>
        <p:txBody>
          <a:bodyPr wrap="square">
            <a:spAutoFit/>
          </a:bodyPr>
          <a:lstStyle/>
          <a:p>
            <a:r>
              <a:rPr sz="3200" b="1">
                <a:solidFill>
                  <a:srgbClr val="0F172A"/>
                </a:solidFill>
                <a:latin typeface="Microsoft YaHei"/>
              </a:rPr>
              <a:t>Ser-FOX Attention Mask Equivalence</a:t>
            </a:r>
          </a:p>
        </p:txBody>
      </p:sp>
      <p:sp>
        <p:nvSpPr>
          <p:cNvPr id="3" name="TextBox 2"/>
          <p:cNvSpPr txBox="1"/>
          <p:nvPr/>
        </p:nvSpPr>
        <p:spPr>
          <a:xfrm>
            <a:off x="713232" y="1691640"/>
            <a:ext cx="9875520" cy="457200"/>
          </a:xfrm>
          <a:prstGeom prst="rect">
            <a:avLst/>
          </a:prstGeom>
          <a:noFill/>
        </p:spPr>
        <p:txBody>
          <a:bodyPr wrap="square">
            <a:spAutoFit/>
          </a:bodyPr>
          <a:lstStyle/>
          <a:p>
            <a:r>
              <a:rPr sz="1700" b="0">
                <a:solidFill>
                  <a:srgbClr val="475569"/>
                </a:solidFill>
                <a:latin typeface="Microsoft YaHei"/>
              </a:rPr>
              <a:t>Code-level comparison: original recompute vs current recompute vs KV-cache</a:t>
            </a:r>
          </a:p>
        </p:txBody>
      </p:sp>
      <p:sp>
        <p:nvSpPr>
          <p:cNvPr id="4" name="Rounded Rectangle 3"/>
          <p:cNvSpPr/>
          <p:nvPr/>
        </p:nvSpPr>
        <p:spPr>
          <a:xfrm>
            <a:off x="731520" y="2423160"/>
            <a:ext cx="1828800" cy="38404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r>
              <a:rPr sz="1050" b="1">
                <a:solidFill>
                  <a:srgbClr val="FFFFFF"/>
                </a:solidFill>
                <a:latin typeface="Microsoft YaHei"/>
              </a:rPr>
              <a:t>same PI semantics</a:t>
            </a:r>
          </a:p>
        </p:txBody>
      </p:sp>
      <p:sp>
        <p:nvSpPr>
          <p:cNvPr id="5" name="Rounded Rectangle 4"/>
          <p:cNvSpPr/>
          <p:nvPr/>
        </p:nvSpPr>
        <p:spPr>
          <a:xfrm>
            <a:off x="2743200" y="2423160"/>
            <a:ext cx="2011680" cy="384048"/>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r>
              <a:rPr sz="1050" b="1">
                <a:solidFill>
                  <a:srgbClr val="FFFFFF"/>
                </a:solidFill>
                <a:latin typeface="Microsoft YaHei"/>
              </a:rPr>
              <a:t>same attention mask</a:t>
            </a:r>
          </a:p>
        </p:txBody>
      </p:sp>
      <p:sp>
        <p:nvSpPr>
          <p:cNvPr id="6" name="Rounded Rectangle 5"/>
          <p:cNvSpPr/>
          <p:nvPr/>
        </p:nvSpPr>
        <p:spPr>
          <a:xfrm>
            <a:off x="4983480" y="2423160"/>
            <a:ext cx="2148840" cy="384048"/>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r>
              <a:rPr sz="1050" b="1">
                <a:solidFill>
                  <a:srgbClr val="FFFFFF"/>
                </a:solidFill>
                <a:latin typeface="Microsoft YaHei"/>
              </a:rPr>
              <a:t>cache removes prefix recompute</a:t>
            </a:r>
          </a:p>
        </p:txBody>
      </p:sp>
      <p:sp>
        <p:nvSpPr>
          <p:cNvPr id="7" name="Rounded Rectangle 6"/>
          <p:cNvSpPr/>
          <p:nvPr/>
        </p:nvSpPr>
        <p:spPr>
          <a:xfrm>
            <a:off x="777240" y="3703320"/>
            <a:ext cx="10652760"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3913632"/>
            <a:ext cx="9966960" cy="320040"/>
          </a:xfrm>
          <a:prstGeom prst="rect">
            <a:avLst/>
          </a:prstGeom>
          <a:noFill/>
        </p:spPr>
        <p:txBody>
          <a:bodyPr wrap="square">
            <a:spAutoFit/>
          </a:bodyPr>
          <a:lstStyle/>
          <a:p>
            <a:r>
              <a:rPr sz="1400" b="1">
                <a:solidFill>
                  <a:srgbClr val="2563EB"/>
                </a:solidFill>
                <a:latin typeface="Microsoft YaHei"/>
              </a:rPr>
              <a:t>One-line message</a:t>
            </a:r>
          </a:p>
        </p:txBody>
      </p:sp>
      <p:sp>
        <p:nvSpPr>
          <p:cNvPr id="9" name="TextBox 8"/>
          <p:cNvSpPr txBox="1"/>
          <p:nvPr/>
        </p:nvSpPr>
        <p:spPr>
          <a:xfrm>
            <a:off x="1051560" y="4315968"/>
            <a:ext cx="9875520" cy="411480"/>
          </a:xfrm>
          <a:prstGeom prst="rect">
            <a:avLst/>
          </a:prstGeom>
          <a:noFill/>
        </p:spPr>
        <p:txBody>
          <a:bodyPr wrap="square">
            <a:spAutoFit/>
          </a:bodyPr>
          <a:lstStyle/>
          <a:p>
            <a:r>
              <a:rPr sz="1800" b="1">
                <a:solidFill>
                  <a:srgbClr val="0F172A"/>
                </a:solidFill>
                <a:latin typeface="Microsoft YaHei"/>
              </a:rPr>
              <a:t>Current KV-cache is an incremental implementation of the same PI scorer; speedup comes from caching the growing serialized prefix.</a:t>
            </a:r>
          </a:p>
        </p:txBody>
      </p:sp>
      <p:sp>
        <p:nvSpPr>
          <p:cNvPr id="10" name="TextBox 9"/>
          <p:cNvSpPr txBox="1"/>
          <p:nvPr/>
        </p:nvSpPr>
        <p:spPr>
          <a:xfrm>
            <a:off x="777240" y="6263640"/>
            <a:ext cx="9601200" cy="228600"/>
          </a:xfrm>
          <a:prstGeom prst="rect">
            <a:avLst/>
          </a:prstGeom>
          <a:noFill/>
        </p:spPr>
        <p:txBody>
          <a:bodyPr wrap="square">
            <a:spAutoFit/>
          </a:bodyPr>
          <a:lstStyle/>
          <a:p>
            <a:r>
              <a:rPr sz="950" b="0">
                <a:solidFill>
                  <a:srgbClr val="475569"/>
                </a:solidFill>
                <a:latin typeface="Microsoft YaHei"/>
              </a:rPr>
              <a:t>Sources: Ser-FOX/serfox_model.py, Ser-FOX/serfox_train.py | local sanity benchmark,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20040"/>
            <a:ext cx="11064240" cy="502920"/>
          </a:xfrm>
          <a:prstGeom prst="rect">
            <a:avLst/>
          </a:prstGeom>
          <a:noFill/>
        </p:spPr>
        <p:txBody>
          <a:bodyPr wrap="square">
            <a:spAutoFit/>
          </a:bodyPr>
          <a:lstStyle/>
          <a:p>
            <a:r>
              <a:rPr sz="2700" b="1">
                <a:solidFill>
                  <a:srgbClr val="0F172A"/>
                </a:solidFill>
                <a:latin typeface="Microsoft YaHei"/>
              </a:rPr>
              <a:t>Main Claim</a:t>
            </a:r>
          </a:p>
        </p:txBody>
      </p:sp>
      <p:sp>
        <p:nvSpPr>
          <p:cNvPr id="3" name="TextBox 2"/>
          <p:cNvSpPr txBox="1"/>
          <p:nvPr/>
        </p:nvSpPr>
        <p:spPr>
          <a:xfrm>
            <a:off x="566928" y="868680"/>
            <a:ext cx="10789920" cy="320040"/>
          </a:xfrm>
          <a:prstGeom prst="rect">
            <a:avLst/>
          </a:prstGeom>
          <a:noFill/>
        </p:spPr>
        <p:txBody>
          <a:bodyPr wrap="square">
            <a:spAutoFit/>
          </a:bodyPr>
          <a:lstStyle/>
          <a:p>
            <a:r>
              <a:rPr sz="1250" b="0">
                <a:solidFill>
                  <a:srgbClr val="475569"/>
                </a:solidFill>
                <a:latin typeface="Microsoft YaHei"/>
              </a:rPr>
              <a:t>Separate semantics from implementation cost.</a:t>
            </a:r>
          </a:p>
        </p:txBody>
      </p:sp>
      <p:sp>
        <p:nvSpPr>
          <p:cNvPr id="4" name="Rectangle 3"/>
          <p:cNvSpPr/>
          <p:nvPr/>
        </p:nvSpPr>
        <p:spPr>
          <a:xfrm>
            <a:off x="548640" y="1161288"/>
            <a:ext cx="110642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554480"/>
            <a:ext cx="3474720" cy="4206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0392" y="1664207"/>
            <a:ext cx="3145536" cy="274320"/>
          </a:xfrm>
          <a:prstGeom prst="rect">
            <a:avLst/>
          </a:prstGeom>
          <a:noFill/>
        </p:spPr>
        <p:txBody>
          <a:bodyPr wrap="square">
            <a:spAutoFit/>
          </a:bodyPr>
          <a:lstStyle/>
          <a:p>
            <a:r>
              <a:rPr sz="1300" b="1">
                <a:solidFill>
                  <a:srgbClr val="0F172A"/>
                </a:solidFill>
                <a:latin typeface="Microsoft YaHei"/>
              </a:rPr>
              <a:t>Semantics</a:t>
            </a:r>
          </a:p>
        </p:txBody>
      </p:sp>
      <p:sp>
        <p:nvSpPr>
          <p:cNvPr id="7" name="TextBox 6"/>
          <p:cNvSpPr txBox="1"/>
          <p:nvPr/>
        </p:nvSpPr>
        <p:spPr>
          <a:xfrm>
            <a:off x="914400" y="2057400"/>
            <a:ext cx="2971800" cy="2560320"/>
          </a:xfrm>
          <a:prstGeom prst="rect">
            <a:avLst/>
          </a:prstGeom>
          <a:noFill/>
        </p:spPr>
        <p:txBody>
          <a:bodyPr wrap="square">
            <a:spAutoFit/>
          </a:bodyPr>
          <a:lstStyle/>
          <a:p>
            <a:pPr>
              <a:spcAft>
                <a:spcPts val="360"/>
              </a:spcAft>
            </a:pPr>
            <a:r>
              <a:rPr sz="1500">
                <a:solidFill>
                  <a:srgbClr val="0F172A"/>
                </a:solidFill>
                <a:latin typeface="Microsoft YaHei"/>
              </a:rPr>
              <a:t>- Old recompute and current recompute are equal.</a:t>
            </a:r>
          </a:p>
          <a:p>
            <a:pPr>
              <a:spcAft>
                <a:spcPts val="360"/>
              </a:spcAft>
            </a:pPr>
            <a:r>
              <a:rPr sz="1500">
                <a:solidFill>
                  <a:srgbClr val="0F172A"/>
                </a:solidFill>
                <a:latin typeface="Microsoft YaHei"/>
              </a:rPr>
              <a:t>- Current cache path matches recompute up to floating point roundoff.</a:t>
            </a:r>
          </a:p>
          <a:p>
            <a:pPr>
              <a:spcAft>
                <a:spcPts val="360"/>
              </a:spcAft>
            </a:pPr>
            <a:r>
              <a:rPr sz="1500">
                <a:solidFill>
                  <a:srgbClr val="0F172A"/>
                </a:solidFill>
                <a:latin typeface="Microsoft YaHei"/>
              </a:rPr>
              <a:t>- Candidate index isolation is unchanged.</a:t>
            </a:r>
          </a:p>
        </p:txBody>
      </p:sp>
      <p:sp>
        <p:nvSpPr>
          <p:cNvPr id="8" name="Rounded Rectangle 7"/>
          <p:cNvSpPr/>
          <p:nvPr/>
        </p:nvSpPr>
        <p:spPr>
          <a:xfrm>
            <a:off x="4434840" y="1554480"/>
            <a:ext cx="3474720" cy="4206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9431" y="1664207"/>
            <a:ext cx="3145536" cy="274320"/>
          </a:xfrm>
          <a:prstGeom prst="rect">
            <a:avLst/>
          </a:prstGeom>
          <a:noFill/>
        </p:spPr>
        <p:txBody>
          <a:bodyPr wrap="square">
            <a:spAutoFit/>
          </a:bodyPr>
          <a:lstStyle/>
          <a:p>
            <a:r>
              <a:rPr sz="1300" b="1">
                <a:solidFill>
                  <a:srgbClr val="0F172A"/>
                </a:solidFill>
                <a:latin typeface="Microsoft YaHei"/>
              </a:rPr>
              <a:t>Implementation</a:t>
            </a:r>
          </a:p>
        </p:txBody>
      </p:sp>
      <p:sp>
        <p:nvSpPr>
          <p:cNvPr id="10" name="TextBox 9"/>
          <p:cNvSpPr txBox="1"/>
          <p:nvPr/>
        </p:nvSpPr>
        <p:spPr>
          <a:xfrm>
            <a:off x="4663440" y="2057400"/>
            <a:ext cx="2971800" cy="2560320"/>
          </a:xfrm>
          <a:prstGeom prst="rect">
            <a:avLst/>
          </a:prstGeom>
          <a:noFill/>
        </p:spPr>
        <p:txBody>
          <a:bodyPr wrap="square">
            <a:spAutoFit/>
          </a:bodyPr>
          <a:lstStyle/>
          <a:p>
            <a:pPr>
              <a:spcAft>
                <a:spcPts val="360"/>
              </a:spcAft>
            </a:pPr>
            <a:r>
              <a:rPr sz="1500">
                <a:solidFill>
                  <a:srgbClr val="0F172A"/>
                </a:solidFill>
                <a:latin typeface="Microsoft YaHei"/>
              </a:rPr>
              <a:t>- Old path re-encodes prefix every step.</a:t>
            </a:r>
          </a:p>
          <a:p>
            <a:pPr>
              <a:spcAft>
                <a:spcPts val="360"/>
              </a:spcAft>
            </a:pPr>
            <a:r>
              <a:rPr sz="1500">
                <a:solidFill>
                  <a:srgbClr val="0F172A"/>
                </a:solidFill>
                <a:latin typeface="Microsoft YaHei"/>
              </a:rPr>
              <a:t>- Cache path builds prefix K/V once.</a:t>
            </a:r>
          </a:p>
          <a:p>
            <a:pPr>
              <a:spcAft>
                <a:spcPts val="360"/>
              </a:spcAft>
            </a:pPr>
            <a:r>
              <a:rPr sz="1500">
                <a:solidFill>
                  <a:srgbClr val="0F172A"/>
                </a:solidFill>
                <a:latin typeface="Microsoft YaHei"/>
              </a:rPr>
              <a:t>- After selection, append only [index, value].</a:t>
            </a:r>
          </a:p>
        </p:txBody>
      </p:sp>
      <p:sp>
        <p:nvSpPr>
          <p:cNvPr id="11" name="Rounded Rectangle 10"/>
          <p:cNvSpPr/>
          <p:nvPr/>
        </p:nvSpPr>
        <p:spPr>
          <a:xfrm>
            <a:off x="8183879" y="1554480"/>
            <a:ext cx="3200400" cy="4206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48471" y="1664207"/>
            <a:ext cx="2871216" cy="274320"/>
          </a:xfrm>
          <a:prstGeom prst="rect">
            <a:avLst/>
          </a:prstGeom>
          <a:noFill/>
        </p:spPr>
        <p:txBody>
          <a:bodyPr wrap="square">
            <a:spAutoFit/>
          </a:bodyPr>
          <a:lstStyle/>
          <a:p>
            <a:r>
              <a:rPr sz="1300" b="1">
                <a:solidFill>
                  <a:srgbClr val="0F172A"/>
                </a:solidFill>
                <a:latin typeface="Microsoft YaHei"/>
              </a:rPr>
              <a:t>Measured</a:t>
            </a:r>
          </a:p>
        </p:txBody>
      </p:sp>
      <p:sp>
        <p:nvSpPr>
          <p:cNvPr id="13" name="TextBox 12"/>
          <p:cNvSpPr txBox="1"/>
          <p:nvPr/>
        </p:nvSpPr>
        <p:spPr>
          <a:xfrm>
            <a:off x="8412480" y="2057400"/>
            <a:ext cx="2651760" cy="320040"/>
          </a:xfrm>
          <a:prstGeom prst="rect">
            <a:avLst/>
          </a:prstGeom>
          <a:noFill/>
        </p:spPr>
        <p:txBody>
          <a:bodyPr wrap="square">
            <a:spAutoFit/>
          </a:bodyPr>
          <a:lstStyle/>
          <a:p>
            <a:r>
              <a:rPr sz="1300" b="1">
                <a:solidFill>
                  <a:srgbClr val="475569"/>
                </a:solidFill>
                <a:latin typeface="Microsoft YaHei"/>
              </a:rPr>
              <a:t>max diff</a:t>
            </a:r>
          </a:p>
        </p:txBody>
      </p:sp>
      <p:sp>
        <p:nvSpPr>
          <p:cNvPr id="14" name="TextBox 13"/>
          <p:cNvSpPr txBox="1"/>
          <p:nvPr/>
        </p:nvSpPr>
        <p:spPr>
          <a:xfrm>
            <a:off x="8412480" y="2423160"/>
            <a:ext cx="2377440" cy="411480"/>
          </a:xfrm>
          <a:prstGeom prst="rect">
            <a:avLst/>
          </a:prstGeom>
          <a:noFill/>
        </p:spPr>
        <p:txBody>
          <a:bodyPr wrap="square">
            <a:spAutoFit/>
          </a:bodyPr>
          <a:lstStyle/>
          <a:p>
            <a:r>
              <a:rPr sz="3000" b="1">
                <a:solidFill>
                  <a:srgbClr val="16A34A"/>
                </a:solidFill>
                <a:latin typeface="Microsoft YaHei"/>
              </a:rPr>
              <a:t>0</a:t>
            </a:r>
          </a:p>
        </p:txBody>
      </p:sp>
      <p:sp>
        <p:nvSpPr>
          <p:cNvPr id="15" name="TextBox 14"/>
          <p:cNvSpPr txBox="1"/>
          <p:nvPr/>
        </p:nvSpPr>
        <p:spPr>
          <a:xfrm>
            <a:off x="8412480" y="2971800"/>
            <a:ext cx="2651760" cy="320040"/>
          </a:xfrm>
          <a:prstGeom prst="rect">
            <a:avLst/>
          </a:prstGeom>
          <a:noFill/>
        </p:spPr>
        <p:txBody>
          <a:bodyPr wrap="square">
            <a:spAutoFit/>
          </a:bodyPr>
          <a:lstStyle/>
          <a:p>
            <a:r>
              <a:rPr sz="1300" b="1">
                <a:solidFill>
                  <a:srgbClr val="475569"/>
                </a:solidFill>
                <a:latin typeface="Microsoft YaHei"/>
              </a:rPr>
              <a:t>cache diff</a:t>
            </a:r>
          </a:p>
        </p:txBody>
      </p:sp>
      <p:sp>
        <p:nvSpPr>
          <p:cNvPr id="16" name="TextBox 15"/>
          <p:cNvSpPr txBox="1"/>
          <p:nvPr/>
        </p:nvSpPr>
        <p:spPr>
          <a:xfrm>
            <a:off x="8412480" y="3337560"/>
            <a:ext cx="2377440" cy="411480"/>
          </a:xfrm>
          <a:prstGeom prst="rect">
            <a:avLst/>
          </a:prstGeom>
          <a:noFill/>
        </p:spPr>
        <p:txBody>
          <a:bodyPr wrap="square">
            <a:spAutoFit/>
          </a:bodyPr>
          <a:lstStyle/>
          <a:p>
            <a:r>
              <a:rPr sz="2400" b="1">
                <a:solidFill>
                  <a:srgbClr val="16A34A"/>
                </a:solidFill>
                <a:latin typeface="Microsoft YaHei"/>
              </a:rPr>
              <a:t>4.77e-07</a:t>
            </a:r>
          </a:p>
        </p:txBody>
      </p:sp>
      <p:sp>
        <p:nvSpPr>
          <p:cNvPr id="17" name="TextBox 16"/>
          <p:cNvSpPr txBox="1"/>
          <p:nvPr/>
        </p:nvSpPr>
        <p:spPr>
          <a:xfrm>
            <a:off x="8412480" y="3931920"/>
            <a:ext cx="2651760" cy="320040"/>
          </a:xfrm>
          <a:prstGeom prst="rect">
            <a:avLst/>
          </a:prstGeom>
          <a:noFill/>
        </p:spPr>
        <p:txBody>
          <a:bodyPr wrap="square">
            <a:spAutoFit/>
          </a:bodyPr>
          <a:lstStyle/>
          <a:p>
            <a:r>
              <a:rPr sz="1300" b="1">
                <a:solidFill>
                  <a:srgbClr val="475569"/>
                </a:solidFill>
                <a:latin typeface="Microsoft YaHei"/>
              </a:rPr>
              <a:t>CPU speedup</a:t>
            </a:r>
          </a:p>
        </p:txBody>
      </p:sp>
      <p:sp>
        <p:nvSpPr>
          <p:cNvPr id="18" name="TextBox 17"/>
          <p:cNvSpPr txBox="1"/>
          <p:nvPr/>
        </p:nvSpPr>
        <p:spPr>
          <a:xfrm>
            <a:off x="8412480" y="4297680"/>
            <a:ext cx="2377440" cy="411480"/>
          </a:xfrm>
          <a:prstGeom prst="rect">
            <a:avLst/>
          </a:prstGeom>
          <a:noFill/>
        </p:spPr>
        <p:txBody>
          <a:bodyPr wrap="square">
            <a:spAutoFit/>
          </a:bodyPr>
          <a:lstStyle/>
          <a:p>
            <a:r>
              <a:rPr sz="2800" b="1">
                <a:solidFill>
                  <a:srgbClr val="EA580C"/>
                </a:solidFill>
                <a:latin typeface="Microsoft YaHei"/>
              </a:rPr>
              <a:t>1.25x</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20040"/>
            <a:ext cx="11064240" cy="502920"/>
          </a:xfrm>
          <a:prstGeom prst="rect">
            <a:avLst/>
          </a:prstGeom>
          <a:noFill/>
        </p:spPr>
        <p:txBody>
          <a:bodyPr wrap="square">
            <a:spAutoFit/>
          </a:bodyPr>
          <a:lstStyle/>
          <a:p>
            <a:r>
              <a:rPr sz="2700" b="1">
                <a:solidFill>
                  <a:srgbClr val="0F172A"/>
                </a:solidFill>
                <a:latin typeface="Microsoft YaHei"/>
              </a:rPr>
              <a:t>What PI Does Each Step</a:t>
            </a:r>
          </a:p>
        </p:txBody>
      </p:sp>
      <p:sp>
        <p:nvSpPr>
          <p:cNvPr id="3" name="TextBox 2"/>
          <p:cNvSpPr txBox="1"/>
          <p:nvPr/>
        </p:nvSpPr>
        <p:spPr>
          <a:xfrm>
            <a:off x="566928" y="868680"/>
            <a:ext cx="10789920" cy="320040"/>
          </a:xfrm>
          <a:prstGeom prst="rect">
            <a:avLst/>
          </a:prstGeom>
          <a:noFill/>
        </p:spPr>
        <p:txBody>
          <a:bodyPr wrap="square">
            <a:spAutoFit/>
          </a:bodyPr>
          <a:lstStyle/>
          <a:p>
            <a:r>
              <a:rPr sz="1250" b="0">
                <a:solidFill>
                  <a:srgbClr val="475569"/>
                </a:solidFill>
                <a:latin typeface="Microsoft YaHei"/>
              </a:rPr>
              <a:t>PI still scores all candidate positions in parallel.</a:t>
            </a:r>
          </a:p>
        </p:txBody>
      </p:sp>
      <p:sp>
        <p:nvSpPr>
          <p:cNvPr id="4" name="Rectangle 3"/>
          <p:cNvSpPr/>
          <p:nvPr/>
        </p:nvSpPr>
        <p:spPr>
          <a:xfrm>
            <a:off x="548640" y="1161288"/>
            <a:ext cx="110642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2011680"/>
            <a:ext cx="2377440" cy="7315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Microsoft YaHei"/>
              </a:rPr>
              <a:t>prefix_t
[quiz][I,y]...</a:t>
            </a:r>
          </a:p>
        </p:txBody>
      </p:sp>
      <p:cxnSp>
        <p:nvCxnSpPr>
          <p:cNvPr id="6" name="Connector 5"/>
          <p:cNvCxnSpPr/>
          <p:nvPr/>
        </p:nvCxnSpPr>
        <p:spPr>
          <a:xfrm>
            <a:off x="3200400" y="2377440"/>
            <a:ext cx="685800" cy="0"/>
          </a:xfrm>
          <a:prstGeom prst="line">
            <a:avLst/>
          </a:prstGeom>
          <a:ln w="25400">
            <a:solidFill>
              <a:srgbClr val="475569"/>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977639" y="2011680"/>
            <a:ext cx="2743200" cy="73152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Microsoft YaHei"/>
              </a:rPr>
              <a:t>append candidates
[I0 I1 ... IR-1]</a:t>
            </a:r>
          </a:p>
        </p:txBody>
      </p:sp>
      <p:cxnSp>
        <p:nvCxnSpPr>
          <p:cNvPr id="8" name="Connector 7"/>
          <p:cNvCxnSpPr/>
          <p:nvPr/>
        </p:nvCxnSpPr>
        <p:spPr>
          <a:xfrm>
            <a:off x="6839712" y="2377440"/>
            <a:ext cx="658367" cy="0"/>
          </a:xfrm>
          <a:prstGeom prst="line">
            <a:avLst/>
          </a:prstGeom>
          <a:ln w="25400">
            <a:solidFill>
              <a:srgbClr val="475569"/>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589520" y="2011680"/>
            <a:ext cx="1828800" cy="73152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Microsoft YaHei"/>
              </a:rPr>
              <a:t>score all
positions</a:t>
            </a:r>
          </a:p>
        </p:txBody>
      </p:sp>
      <p:cxnSp>
        <p:nvCxnSpPr>
          <p:cNvPr id="10" name="Connector 9"/>
          <p:cNvCxnSpPr/>
          <p:nvPr/>
        </p:nvCxnSpPr>
        <p:spPr>
          <a:xfrm>
            <a:off x="9528048" y="2377440"/>
            <a:ext cx="621792" cy="0"/>
          </a:xfrm>
          <a:prstGeom prst="line">
            <a:avLst/>
          </a:prstGeom>
          <a:ln w="25400">
            <a:solidFill>
              <a:srgbClr val="475569"/>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0241280" y="2011680"/>
            <a:ext cx="1280160" cy="73152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Microsoft YaHei"/>
              </a:rPr>
              <a:t>commit
[I_k,y_k]</a:t>
            </a:r>
          </a:p>
        </p:txBody>
      </p:sp>
      <p:sp>
        <p:nvSpPr>
          <p:cNvPr id="12" name="Rounded Rectangle 11"/>
          <p:cNvSpPr/>
          <p:nvPr/>
        </p:nvSpPr>
        <p:spPr>
          <a:xfrm>
            <a:off x="914400" y="3749039"/>
            <a:ext cx="1033272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3977639"/>
            <a:ext cx="9875520" cy="411480"/>
          </a:xfrm>
          <a:prstGeom prst="rect">
            <a:avLst/>
          </a:prstGeom>
          <a:noFill/>
        </p:spPr>
        <p:txBody>
          <a:bodyPr wrap="square">
            <a:spAutoFit/>
          </a:bodyPr>
          <a:lstStyle/>
          <a:p>
            <a:r>
              <a:rPr sz="1900" b="1">
                <a:solidFill>
                  <a:srgbClr val="0F172A"/>
                </a:solidFill>
                <a:latin typeface="Microsoft YaHei"/>
              </a:rPr>
              <a:t>Invariant: candidate index tokens share the same logical frontier and cannot attend to each other.</a:t>
            </a:r>
          </a:p>
        </p:txBody>
      </p:sp>
      <p:sp>
        <p:nvSpPr>
          <p:cNvPr id="14" name="Rounded Rectangle 13"/>
          <p:cNvSpPr/>
          <p:nvPr/>
        </p:nvSpPr>
        <p:spPr>
          <a:xfrm>
            <a:off x="1051560" y="5166360"/>
            <a:ext cx="9966960" cy="73152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none" lIns="128016" rIns="109728" tIns="82296" bIns="54864"/>
          <a:lstStyle/>
          <a:p>
            <a:pPr algn="ctr"/>
            <a:r>
              <a:rPr sz="1600">
                <a:solidFill>
                  <a:srgbClr val="E2E8F0"/>
                </a:solidFill>
                <a:latin typeface="Consolas"/>
              </a:rPr>
              <a:t>prefix_{t+1} = prefix_t + [selected_index, selected_value]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20040"/>
            <a:ext cx="11064240" cy="502920"/>
          </a:xfrm>
          <a:prstGeom prst="rect">
            <a:avLst/>
          </a:prstGeom>
          <a:noFill/>
        </p:spPr>
        <p:txBody>
          <a:bodyPr wrap="square">
            <a:spAutoFit/>
          </a:bodyPr>
          <a:lstStyle/>
          <a:p>
            <a:r>
              <a:rPr sz="2700" b="1">
                <a:solidFill>
                  <a:srgbClr val="0F172A"/>
                </a:solidFill>
                <a:latin typeface="Microsoft YaHei"/>
              </a:rPr>
              <a:t>Original Recompute Path</a:t>
            </a:r>
          </a:p>
        </p:txBody>
      </p:sp>
      <p:sp>
        <p:nvSpPr>
          <p:cNvPr id="3" name="TextBox 2"/>
          <p:cNvSpPr txBox="1"/>
          <p:nvPr/>
        </p:nvSpPr>
        <p:spPr>
          <a:xfrm>
            <a:off x="566928" y="868680"/>
            <a:ext cx="10789920" cy="320040"/>
          </a:xfrm>
          <a:prstGeom prst="rect">
            <a:avLst/>
          </a:prstGeom>
          <a:noFill/>
        </p:spPr>
        <p:txBody>
          <a:bodyPr wrap="square">
            <a:spAutoFit/>
          </a:bodyPr>
          <a:lstStyle/>
          <a:p>
            <a:r>
              <a:rPr sz="1250" b="0">
                <a:solidFill>
                  <a:srgbClr val="475569"/>
                </a:solidFill>
                <a:latin typeface="Microsoft YaHei"/>
              </a:rPr>
              <a:t>Correct but repeats the accumulated prefix work every step.</a:t>
            </a:r>
          </a:p>
        </p:txBody>
      </p:sp>
      <p:sp>
        <p:nvSpPr>
          <p:cNvPr id="4" name="Rectangle 3"/>
          <p:cNvSpPr/>
          <p:nvPr/>
        </p:nvSpPr>
        <p:spPr>
          <a:xfrm>
            <a:off x="548640" y="1161288"/>
            <a:ext cx="110642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00200"/>
            <a:ext cx="5394960" cy="283464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none" lIns="128016" rIns="109728" tIns="82296" bIns="54864"/>
          <a:lstStyle/>
          <a:p>
            <a:pPr algn="ctr"/>
            <a:r>
              <a:rPr sz="1350">
                <a:solidFill>
                  <a:srgbClr val="E2E8F0"/>
                </a:solidFill>
                <a:latin typeface="Consolas"/>
              </a:rPr>
              <a:t>for step in range(R):
    idx_app = concat(prefix_t, all_index_tokens)
    logits = score_parallel_indices(idx_app, R)
    commit one [index, value]
    prefix_t = concat(prefix_t, [index, value])</a:t>
            </a:r>
          </a:p>
        </p:txBody>
      </p:sp>
      <p:sp>
        <p:nvSpPr>
          <p:cNvPr id="6" name="Rounded Rectangle 5"/>
          <p:cNvSpPr/>
          <p:nvPr/>
        </p:nvSpPr>
        <p:spPr>
          <a:xfrm>
            <a:off x="6446520" y="1600200"/>
            <a:ext cx="4800600" cy="2834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11112" y="1709928"/>
            <a:ext cx="4471416" cy="274320"/>
          </a:xfrm>
          <a:prstGeom prst="rect">
            <a:avLst/>
          </a:prstGeom>
          <a:noFill/>
        </p:spPr>
        <p:txBody>
          <a:bodyPr wrap="square">
            <a:spAutoFit/>
          </a:bodyPr>
          <a:lstStyle/>
          <a:p>
            <a:r>
              <a:rPr sz="1300" b="1">
                <a:solidFill>
                  <a:srgbClr val="0F172A"/>
                </a:solidFill>
                <a:latin typeface="Microsoft YaHei"/>
              </a:rPr>
              <a:t>Cost shape</a:t>
            </a:r>
          </a:p>
        </p:txBody>
      </p:sp>
      <p:sp>
        <p:nvSpPr>
          <p:cNvPr id="8" name="TextBox 7"/>
          <p:cNvSpPr txBox="1"/>
          <p:nvPr/>
        </p:nvSpPr>
        <p:spPr>
          <a:xfrm>
            <a:off x="6720840" y="2057400"/>
            <a:ext cx="4206240" cy="1828800"/>
          </a:xfrm>
          <a:prstGeom prst="rect">
            <a:avLst/>
          </a:prstGeom>
          <a:noFill/>
        </p:spPr>
        <p:txBody>
          <a:bodyPr wrap="square">
            <a:spAutoFit/>
          </a:bodyPr>
          <a:lstStyle/>
          <a:p>
            <a:pPr>
              <a:spcAft>
                <a:spcPts val="360"/>
              </a:spcAft>
            </a:pPr>
            <a:r>
              <a:rPr sz="1600">
                <a:solidFill>
                  <a:srgbClr val="0F172A"/>
                </a:solidFill>
                <a:latin typeface="Microsoft YaHei"/>
              </a:rPr>
              <a:t>- Full prefix is re-encoded each step.</a:t>
            </a:r>
          </a:p>
          <a:p>
            <a:pPr>
              <a:spcAft>
                <a:spcPts val="360"/>
              </a:spcAft>
            </a:pPr>
            <a:r>
              <a:rPr sz="1600">
                <a:solidFill>
                  <a:srgbClr val="0F172A"/>
                </a:solidFill>
                <a:latin typeface="Microsoft YaHei"/>
              </a:rPr>
              <a:t>- Candidate block is encoded each step.</a:t>
            </a:r>
          </a:p>
          <a:p>
            <a:pPr>
              <a:spcAft>
                <a:spcPts val="360"/>
              </a:spcAft>
            </a:pPr>
            <a:r>
              <a:rPr sz="1600">
                <a:solidFill>
                  <a:srgbClr val="0F172A"/>
                </a:solidFill>
                <a:latin typeface="Microsoft YaHei"/>
              </a:rPr>
              <a:t>- Prefix length grows by 2 tokens per step.</a:t>
            </a:r>
          </a:p>
        </p:txBody>
      </p:sp>
      <p:sp>
        <p:nvSpPr>
          <p:cNvPr id="9" name="TextBox 8"/>
          <p:cNvSpPr txBox="1"/>
          <p:nvPr/>
        </p:nvSpPr>
        <p:spPr>
          <a:xfrm>
            <a:off x="822960" y="4892040"/>
            <a:ext cx="9875520" cy="320040"/>
          </a:xfrm>
          <a:prstGeom prst="rect">
            <a:avLst/>
          </a:prstGeom>
          <a:noFill/>
        </p:spPr>
        <p:txBody>
          <a:bodyPr wrap="square">
            <a:spAutoFit/>
          </a:bodyPr>
          <a:lstStyle/>
          <a:p>
            <a:r>
              <a:rPr sz="1300" b="0">
                <a:solidFill>
                  <a:srgbClr val="475569"/>
                </a:solidFill>
                <a:latin typeface="Microsoft YaHei"/>
              </a:rPr>
              <a:t>Code reference: Ser-FOX/serfox_model.py:728 score_parallel_indices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20040"/>
            <a:ext cx="11064240" cy="502920"/>
          </a:xfrm>
          <a:prstGeom prst="rect">
            <a:avLst/>
          </a:prstGeom>
          <a:noFill/>
        </p:spPr>
        <p:txBody>
          <a:bodyPr wrap="square">
            <a:spAutoFit/>
          </a:bodyPr>
          <a:lstStyle/>
          <a:p>
            <a:r>
              <a:rPr sz="2700" b="1">
                <a:solidFill>
                  <a:srgbClr val="0F172A"/>
                </a:solidFill>
                <a:latin typeface="Microsoft YaHei"/>
              </a:rPr>
              <a:t>Current KV-cache Path</a:t>
            </a:r>
          </a:p>
        </p:txBody>
      </p:sp>
      <p:sp>
        <p:nvSpPr>
          <p:cNvPr id="3" name="TextBox 2"/>
          <p:cNvSpPr txBox="1"/>
          <p:nvPr/>
        </p:nvSpPr>
        <p:spPr>
          <a:xfrm>
            <a:off x="566928" y="868680"/>
            <a:ext cx="10789920" cy="320040"/>
          </a:xfrm>
          <a:prstGeom prst="rect">
            <a:avLst/>
          </a:prstGeom>
          <a:noFill/>
        </p:spPr>
        <p:txBody>
          <a:bodyPr wrap="square">
            <a:spAutoFit/>
          </a:bodyPr>
          <a:lstStyle/>
          <a:p>
            <a:r>
              <a:rPr sz="1250" b="0">
                <a:solidFill>
                  <a:srgbClr val="475569"/>
                </a:solidFill>
                <a:latin typeface="Microsoft YaHei"/>
              </a:rPr>
              <a:t>Same scorer, incremental prefix implementation.</a:t>
            </a:r>
          </a:p>
        </p:txBody>
      </p:sp>
      <p:sp>
        <p:nvSpPr>
          <p:cNvPr id="4" name="Rectangle 3"/>
          <p:cNvSpPr/>
          <p:nvPr/>
        </p:nvSpPr>
        <p:spPr>
          <a:xfrm>
            <a:off x="548640" y="1161288"/>
            <a:ext cx="110642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08760"/>
            <a:ext cx="5715000" cy="315468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none" lIns="128016" rIns="109728" tIns="82296" bIns="54864"/>
          <a:lstStyle/>
          <a:p>
            <a:pPr algn="ctr"/>
            <a:r>
              <a:rPr sz="1250">
                <a:solidFill>
                  <a:srgbClr val="E2E8F0"/>
                </a:solidFill>
                <a:latin typeface="Consolas"/>
              </a:rPr>
              <a:t>cache = build_prefix_kv_cache(prefix_0)
for step in range(R):
    logits = score_parallel_indices_cached(all_index_tokens, cache)
    commit one [index, value]
    cache = append_to_kv_cache(cache, [index, value])</a:t>
            </a:r>
          </a:p>
        </p:txBody>
      </p:sp>
      <p:sp>
        <p:nvSpPr>
          <p:cNvPr id="6" name="Rounded Rectangle 5"/>
          <p:cNvSpPr/>
          <p:nvPr/>
        </p:nvSpPr>
        <p:spPr>
          <a:xfrm>
            <a:off x="6766560" y="1508760"/>
            <a:ext cx="4389120" cy="3154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31152" y="1618488"/>
            <a:ext cx="4059935" cy="274320"/>
          </a:xfrm>
          <a:prstGeom prst="rect">
            <a:avLst/>
          </a:prstGeom>
          <a:noFill/>
        </p:spPr>
        <p:txBody>
          <a:bodyPr wrap="square">
            <a:spAutoFit/>
          </a:bodyPr>
          <a:lstStyle/>
          <a:p>
            <a:r>
              <a:rPr sz="1300" b="1">
                <a:solidFill>
                  <a:srgbClr val="0F172A"/>
                </a:solidFill>
                <a:latin typeface="Microsoft YaHei"/>
              </a:rPr>
              <a:t>What changed</a:t>
            </a:r>
          </a:p>
        </p:txBody>
      </p:sp>
      <p:sp>
        <p:nvSpPr>
          <p:cNvPr id="8" name="TextBox 7"/>
          <p:cNvSpPr txBox="1"/>
          <p:nvPr/>
        </p:nvSpPr>
        <p:spPr>
          <a:xfrm>
            <a:off x="7040880" y="1965960"/>
            <a:ext cx="3840480" cy="1920240"/>
          </a:xfrm>
          <a:prstGeom prst="rect">
            <a:avLst/>
          </a:prstGeom>
          <a:noFill/>
        </p:spPr>
        <p:txBody>
          <a:bodyPr wrap="square">
            <a:spAutoFit/>
          </a:bodyPr>
          <a:lstStyle/>
          <a:p>
            <a:pPr>
              <a:spcAft>
                <a:spcPts val="360"/>
              </a:spcAft>
            </a:pPr>
            <a:r>
              <a:rPr sz="1600">
                <a:solidFill>
                  <a:srgbClr val="0F172A"/>
                </a:solidFill>
                <a:latin typeface="Microsoft YaHei"/>
              </a:rPr>
              <a:t>- Prefix K/V is built once.</a:t>
            </a:r>
          </a:p>
          <a:p>
            <a:pPr>
              <a:spcAft>
                <a:spcPts val="360"/>
              </a:spcAft>
            </a:pPr>
            <a:r>
              <a:rPr sz="1600">
                <a:solidFill>
                  <a:srgbClr val="0F172A"/>
                </a:solidFill>
                <a:latin typeface="Microsoft YaHei"/>
              </a:rPr>
              <a:t>- Candidate block reads cached prefix K/V.</a:t>
            </a:r>
          </a:p>
          <a:p>
            <a:pPr>
              <a:spcAft>
                <a:spcPts val="360"/>
              </a:spcAft>
            </a:pPr>
            <a:r>
              <a:rPr sz="1600">
                <a:solidFill>
                  <a:srgbClr val="0F172A"/>
                </a:solidFill>
                <a:latin typeface="Microsoft YaHei"/>
              </a:rPr>
              <a:t>- Only committed [index, value] is appended.</a:t>
            </a:r>
          </a:p>
        </p:txBody>
      </p:sp>
      <p:sp>
        <p:nvSpPr>
          <p:cNvPr id="9" name="TextBox 8"/>
          <p:cNvSpPr txBox="1"/>
          <p:nvPr/>
        </p:nvSpPr>
        <p:spPr>
          <a:xfrm>
            <a:off x="822960" y="5074920"/>
            <a:ext cx="10058400" cy="320040"/>
          </a:xfrm>
          <a:prstGeom prst="rect">
            <a:avLst/>
          </a:prstGeom>
          <a:noFill/>
        </p:spPr>
        <p:txBody>
          <a:bodyPr wrap="square">
            <a:spAutoFit/>
          </a:bodyPr>
          <a:lstStyle/>
          <a:p>
            <a:r>
              <a:rPr sz="1300" b="0">
                <a:solidFill>
                  <a:srgbClr val="475569"/>
                </a:solidFill>
                <a:latin typeface="Microsoft YaHei"/>
              </a:rPr>
              <a:t>Code references: build_prefix_kv_cache:613, append_to_kv_cache:638, score_parallel_indices_cached:814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20040"/>
            <a:ext cx="11064240" cy="502920"/>
          </a:xfrm>
          <a:prstGeom prst="rect">
            <a:avLst/>
          </a:prstGeom>
          <a:noFill/>
        </p:spPr>
        <p:txBody>
          <a:bodyPr wrap="square">
            <a:spAutoFit/>
          </a:bodyPr>
          <a:lstStyle/>
          <a:p>
            <a:r>
              <a:rPr sz="2700" b="1">
                <a:solidFill>
                  <a:srgbClr val="0F172A"/>
                </a:solidFill>
                <a:latin typeface="Microsoft YaHei"/>
              </a:rPr>
              <a:t>Same Visibility Mask</a:t>
            </a:r>
          </a:p>
        </p:txBody>
      </p:sp>
      <p:sp>
        <p:nvSpPr>
          <p:cNvPr id="3" name="TextBox 2"/>
          <p:cNvSpPr txBox="1"/>
          <p:nvPr/>
        </p:nvSpPr>
        <p:spPr>
          <a:xfrm>
            <a:off x="566928" y="868680"/>
            <a:ext cx="10789920" cy="320040"/>
          </a:xfrm>
          <a:prstGeom prst="rect">
            <a:avLst/>
          </a:prstGeom>
          <a:noFill/>
        </p:spPr>
        <p:txBody>
          <a:bodyPr wrap="square">
            <a:spAutoFit/>
          </a:bodyPr>
          <a:lstStyle/>
          <a:p>
            <a:r>
              <a:rPr sz="1250" b="0">
                <a:solidFill>
                  <a:srgbClr val="475569"/>
                </a:solidFill>
                <a:latin typeface="Microsoft YaHei"/>
              </a:rPr>
              <a:t>Prefix causal; candidates see prefix and self only.</a:t>
            </a:r>
          </a:p>
        </p:txBody>
      </p:sp>
      <p:sp>
        <p:nvSpPr>
          <p:cNvPr id="4" name="Rectangle 3"/>
          <p:cNvSpPr/>
          <p:nvPr/>
        </p:nvSpPr>
        <p:spPr>
          <a:xfrm>
            <a:off x="548640" y="1161288"/>
            <a:ext cx="110642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erfox_mask_matrix.png"/>
          <p:cNvPicPr>
            <a:picLocks noChangeAspect="1"/>
          </p:cNvPicPr>
          <p:nvPr/>
        </p:nvPicPr>
        <p:blipFill>
          <a:blip r:embed="rId2"/>
          <a:stretch>
            <a:fillRect/>
          </a:stretch>
        </p:blipFill>
        <p:spPr>
          <a:xfrm>
            <a:off x="868680" y="1508760"/>
            <a:ext cx="5029200" cy="4851350"/>
          </a:xfrm>
          <a:prstGeom prst="rect">
            <a:avLst/>
          </a:prstGeom>
        </p:spPr>
      </p:pic>
      <p:sp>
        <p:nvSpPr>
          <p:cNvPr id="6" name="Rounded Rectangle 5"/>
          <p:cNvSpPr/>
          <p:nvPr/>
        </p:nvSpPr>
        <p:spPr>
          <a:xfrm>
            <a:off x="6309360" y="1508760"/>
            <a:ext cx="4937760" cy="40233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73952" y="1618488"/>
            <a:ext cx="4608576" cy="274320"/>
          </a:xfrm>
          <a:prstGeom prst="rect">
            <a:avLst/>
          </a:prstGeom>
          <a:noFill/>
        </p:spPr>
        <p:txBody>
          <a:bodyPr wrap="square">
            <a:spAutoFit/>
          </a:bodyPr>
          <a:lstStyle/>
          <a:p>
            <a:r>
              <a:rPr sz="1300" b="1">
                <a:solidFill>
                  <a:srgbClr val="0F172A"/>
                </a:solidFill>
                <a:latin typeface="Microsoft YaHei"/>
              </a:rPr>
              <a:t>Mask rule</a:t>
            </a:r>
          </a:p>
        </p:txBody>
      </p:sp>
      <p:sp>
        <p:nvSpPr>
          <p:cNvPr id="8" name="TextBox 7"/>
          <p:cNvSpPr txBox="1"/>
          <p:nvPr/>
        </p:nvSpPr>
        <p:spPr>
          <a:xfrm>
            <a:off x="6583680" y="1965960"/>
            <a:ext cx="4343400" cy="2057400"/>
          </a:xfrm>
          <a:prstGeom prst="rect">
            <a:avLst/>
          </a:prstGeom>
          <a:noFill/>
        </p:spPr>
        <p:txBody>
          <a:bodyPr wrap="square">
            <a:spAutoFit/>
          </a:bodyPr>
          <a:lstStyle/>
          <a:p>
            <a:pPr>
              <a:spcAft>
                <a:spcPts val="360"/>
              </a:spcAft>
            </a:pPr>
            <a:r>
              <a:rPr sz="1550">
                <a:solidFill>
                  <a:srgbClr val="0F172A"/>
                </a:solidFill>
                <a:latin typeface="Microsoft YaHei"/>
              </a:rPr>
              <a:t>- prefix -&gt; prefix: lower triangular causal</a:t>
            </a:r>
          </a:p>
          <a:p>
            <a:pPr>
              <a:spcAft>
                <a:spcPts val="360"/>
              </a:spcAft>
            </a:pPr>
            <a:r>
              <a:rPr sz="1550">
                <a:solidFill>
                  <a:srgbClr val="0F172A"/>
                </a:solidFill>
                <a:latin typeface="Microsoft YaHei"/>
              </a:rPr>
              <a:t>- candidate i -&gt; prefix: visible</a:t>
            </a:r>
          </a:p>
          <a:p>
            <a:pPr>
              <a:spcAft>
                <a:spcPts val="360"/>
              </a:spcAft>
            </a:pPr>
            <a:r>
              <a:rPr sz="1550">
                <a:solidFill>
                  <a:srgbClr val="0F172A"/>
                </a:solidFill>
                <a:latin typeface="Microsoft YaHei"/>
              </a:rPr>
              <a:t>- candidate i -&gt; candidate i: visible</a:t>
            </a:r>
          </a:p>
          <a:p>
            <a:pPr>
              <a:spcAft>
                <a:spcPts val="360"/>
              </a:spcAft>
            </a:pPr>
            <a:r>
              <a:rPr sz="1550">
                <a:solidFill>
                  <a:srgbClr val="0F172A"/>
                </a:solidFill>
                <a:latin typeface="Microsoft YaHei"/>
              </a:rPr>
              <a:t>- candidate i -&gt; candidate j: hidden when i != j</a:t>
            </a:r>
          </a:p>
        </p:txBody>
      </p:sp>
      <p:sp>
        <p:nvSpPr>
          <p:cNvPr id="9" name="Rounded Rectangle 8"/>
          <p:cNvSpPr/>
          <p:nvPr/>
        </p:nvSpPr>
        <p:spPr>
          <a:xfrm>
            <a:off x="6537960" y="4434840"/>
            <a:ext cx="4389120" cy="59436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none" lIns="128016" rIns="109728" tIns="82296" bIns="54864"/>
          <a:lstStyle/>
          <a:p>
            <a:pPr algn="ctr"/>
            <a:r>
              <a:rPr sz="1250">
                <a:solidFill>
                  <a:srgbClr val="E2E8F0"/>
                </a:solidFill>
                <a:latin typeface="Consolas"/>
              </a:rPr>
              <a:t>visible = torch.eye(T)  # cached PI scoring</a:t>
            </a:r>
          </a:p>
        </p:txBody>
      </p:sp>
      <p:sp>
        <p:nvSpPr>
          <p:cNvPr id="10" name="TextBox 9"/>
          <p:cNvSpPr txBox="1"/>
          <p:nvPr/>
        </p:nvSpPr>
        <p:spPr>
          <a:xfrm>
            <a:off x="868680" y="5897880"/>
            <a:ext cx="10241280" cy="274320"/>
          </a:xfrm>
          <a:prstGeom prst="rect">
            <a:avLst/>
          </a:prstGeom>
          <a:noFill/>
        </p:spPr>
        <p:txBody>
          <a:bodyPr wrap="square">
            <a:spAutoFit/>
          </a:bodyPr>
          <a:lstStyle/>
          <a:p>
            <a:r>
              <a:rPr sz="1200" b="0">
                <a:solidFill>
                  <a:srgbClr val="475569"/>
                </a:solidFill>
                <a:latin typeface="Microsoft YaHei"/>
              </a:rPr>
              <a:t>Source: build_ste_visible_mask:26 and forward_new_tokens_with_kv:199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20040"/>
            <a:ext cx="11064240" cy="502920"/>
          </a:xfrm>
          <a:prstGeom prst="rect">
            <a:avLst/>
          </a:prstGeom>
          <a:noFill/>
        </p:spPr>
        <p:txBody>
          <a:bodyPr wrap="square">
            <a:spAutoFit/>
          </a:bodyPr>
          <a:lstStyle/>
          <a:p>
            <a:r>
              <a:rPr sz="2700" b="1">
                <a:solidFill>
                  <a:srgbClr val="0F172A"/>
                </a:solidFill>
                <a:latin typeface="Microsoft YaHei"/>
              </a:rPr>
              <a:t>Equivalence Calculation</a:t>
            </a:r>
          </a:p>
        </p:txBody>
      </p:sp>
      <p:sp>
        <p:nvSpPr>
          <p:cNvPr id="3" name="TextBox 2"/>
          <p:cNvSpPr txBox="1"/>
          <p:nvPr/>
        </p:nvSpPr>
        <p:spPr>
          <a:xfrm>
            <a:off x="566928" y="868680"/>
            <a:ext cx="10789920" cy="320040"/>
          </a:xfrm>
          <a:prstGeom prst="rect">
            <a:avLst/>
          </a:prstGeom>
          <a:noFill/>
        </p:spPr>
        <p:txBody>
          <a:bodyPr wrap="square">
            <a:spAutoFit/>
          </a:bodyPr>
          <a:lstStyle/>
          <a:p>
            <a:r>
              <a:rPr sz="1250" b="0">
                <a:solidFill>
                  <a:srgbClr val="475569"/>
                </a:solidFill>
                <a:latin typeface="Microsoft YaHei"/>
              </a:rPr>
              <a:t>Cached attention computes the same row expression.</a:t>
            </a:r>
          </a:p>
        </p:txBody>
      </p:sp>
      <p:sp>
        <p:nvSpPr>
          <p:cNvPr id="4" name="Rectangle 3"/>
          <p:cNvSpPr/>
          <p:nvPr/>
        </p:nvSpPr>
        <p:spPr>
          <a:xfrm>
            <a:off x="548640" y="1161288"/>
            <a:ext cx="110642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508760"/>
            <a:ext cx="521208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41832" y="1618488"/>
            <a:ext cx="4882896" cy="274320"/>
          </a:xfrm>
          <a:prstGeom prst="rect">
            <a:avLst/>
          </a:prstGeom>
          <a:noFill/>
        </p:spPr>
        <p:txBody>
          <a:bodyPr wrap="square">
            <a:spAutoFit/>
          </a:bodyPr>
          <a:lstStyle/>
          <a:p>
            <a:r>
              <a:rPr sz="1300" b="1">
                <a:solidFill>
                  <a:srgbClr val="0F172A"/>
                </a:solidFill>
                <a:latin typeface="Microsoft YaHei"/>
              </a:rPr>
              <a:t>Recompute</a:t>
            </a:r>
          </a:p>
        </p:txBody>
      </p:sp>
      <p:sp>
        <p:nvSpPr>
          <p:cNvPr id="7" name="Rounded Rectangle 6"/>
          <p:cNvSpPr/>
          <p:nvPr/>
        </p:nvSpPr>
        <p:spPr>
          <a:xfrm>
            <a:off x="1005840" y="1965960"/>
            <a:ext cx="4709160" cy="109728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none" lIns="128016" rIns="109728" tIns="82296" bIns="54864"/>
          <a:lstStyle/>
          <a:p>
            <a:pPr algn="ctr"/>
            <a:r>
              <a:rPr sz="1280">
                <a:solidFill>
                  <a:srgbClr val="E2E8F0"/>
                </a:solidFill>
                <a:latin typeface="Consolas"/>
              </a:rPr>
              <a:t>score(prefix_t + candidates)
K,V contain prefix and candidate block</a:t>
            </a:r>
          </a:p>
        </p:txBody>
      </p:sp>
      <p:sp>
        <p:nvSpPr>
          <p:cNvPr id="8" name="TextBox 7"/>
          <p:cNvSpPr txBox="1"/>
          <p:nvPr/>
        </p:nvSpPr>
        <p:spPr>
          <a:xfrm>
            <a:off x="1051560" y="3429000"/>
            <a:ext cx="4526280" cy="685800"/>
          </a:xfrm>
          <a:prstGeom prst="rect">
            <a:avLst/>
          </a:prstGeom>
          <a:noFill/>
        </p:spPr>
        <p:txBody>
          <a:bodyPr wrap="square">
            <a:spAutoFit/>
          </a:bodyPr>
          <a:lstStyle/>
          <a:p>
            <a:r>
              <a:rPr sz="1600" b="0">
                <a:solidFill>
                  <a:srgbClr val="0F172A"/>
                </a:solidFill>
                <a:latin typeface="Microsoft YaHei"/>
              </a:rPr>
              <a:t>candidate row attends to:
[Q_c K_p^T, Q_c K_c^T masked-to-self]</a:t>
            </a:r>
          </a:p>
        </p:txBody>
      </p:sp>
      <p:sp>
        <p:nvSpPr>
          <p:cNvPr id="9" name="Rounded Rectangle 8"/>
          <p:cNvSpPr/>
          <p:nvPr/>
        </p:nvSpPr>
        <p:spPr>
          <a:xfrm>
            <a:off x="6263640" y="1508760"/>
            <a:ext cx="521208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28231" y="1618488"/>
            <a:ext cx="4882896" cy="274320"/>
          </a:xfrm>
          <a:prstGeom prst="rect">
            <a:avLst/>
          </a:prstGeom>
          <a:noFill/>
        </p:spPr>
        <p:txBody>
          <a:bodyPr wrap="square">
            <a:spAutoFit/>
          </a:bodyPr>
          <a:lstStyle/>
          <a:p>
            <a:r>
              <a:rPr sz="1300" b="1">
                <a:solidFill>
                  <a:srgbClr val="0F172A"/>
                </a:solidFill>
                <a:latin typeface="Microsoft YaHei"/>
              </a:rPr>
              <a:t>KV-cache</a:t>
            </a:r>
          </a:p>
        </p:txBody>
      </p:sp>
      <p:sp>
        <p:nvSpPr>
          <p:cNvPr id="11" name="Rounded Rectangle 10"/>
          <p:cNvSpPr/>
          <p:nvPr/>
        </p:nvSpPr>
        <p:spPr>
          <a:xfrm>
            <a:off x="6492240" y="1965960"/>
            <a:ext cx="4709160" cy="109728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none" lIns="128016" rIns="109728" tIns="82296" bIns="54864"/>
          <a:lstStyle/>
          <a:p>
            <a:pPr algn="ctr"/>
            <a:r>
              <a:rPr sz="1280">
                <a:solidFill>
                  <a:srgbClr val="E2E8F0"/>
                </a:solidFill>
                <a:latin typeface="Consolas"/>
              </a:rPr>
              <a:t>score(candidates, cache(prefix_t))
K_p,V_p come from cache</a:t>
            </a:r>
          </a:p>
        </p:txBody>
      </p:sp>
      <p:sp>
        <p:nvSpPr>
          <p:cNvPr id="12" name="TextBox 11"/>
          <p:cNvSpPr txBox="1"/>
          <p:nvPr/>
        </p:nvSpPr>
        <p:spPr>
          <a:xfrm>
            <a:off x="6537960" y="3429000"/>
            <a:ext cx="4526280" cy="685800"/>
          </a:xfrm>
          <a:prstGeom prst="rect">
            <a:avLst/>
          </a:prstGeom>
          <a:noFill/>
        </p:spPr>
        <p:txBody>
          <a:bodyPr wrap="square">
            <a:spAutoFit/>
          </a:bodyPr>
          <a:lstStyle/>
          <a:p>
            <a:r>
              <a:rPr sz="1600" b="0">
                <a:solidFill>
                  <a:srgbClr val="0F172A"/>
                </a:solidFill>
                <a:latin typeface="Microsoft YaHei"/>
              </a:rPr>
              <a:t>same logits are concatenated before softmax:
[Q_c K_p^T, Q_c K_c^T masked-to-self]</a:t>
            </a:r>
          </a:p>
        </p:txBody>
      </p:sp>
      <p:sp>
        <p:nvSpPr>
          <p:cNvPr id="13" name="TextBox 12"/>
          <p:cNvSpPr txBox="1"/>
          <p:nvPr/>
        </p:nvSpPr>
        <p:spPr>
          <a:xfrm>
            <a:off x="1828800" y="5897880"/>
            <a:ext cx="8412480" cy="320040"/>
          </a:xfrm>
          <a:prstGeom prst="rect">
            <a:avLst/>
          </a:prstGeom>
          <a:noFill/>
        </p:spPr>
        <p:txBody>
          <a:bodyPr wrap="square">
            <a:spAutoFit/>
          </a:bodyPr>
          <a:lstStyle/>
          <a:p>
            <a:pPr algn="ctr"/>
            <a:r>
              <a:rPr sz="1450" b="1">
                <a:solidFill>
                  <a:srgbClr val="16A34A"/>
                </a:solidFill>
                <a:latin typeface="Microsoft YaHei"/>
              </a:rPr>
              <a:t>Therefore: score_parallel_indices(prefix+candidates) == score_parallel_indices_cached(candidates, cache(prefix))</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20040"/>
            <a:ext cx="11064240" cy="502920"/>
          </a:xfrm>
          <a:prstGeom prst="rect">
            <a:avLst/>
          </a:prstGeom>
          <a:noFill/>
        </p:spPr>
        <p:txBody>
          <a:bodyPr wrap="square">
            <a:spAutoFit/>
          </a:bodyPr>
          <a:lstStyle/>
          <a:p>
            <a:r>
              <a:rPr sz="2700" b="1">
                <a:solidFill>
                  <a:srgbClr val="0F172A"/>
                </a:solidFill>
                <a:latin typeface="Microsoft YaHei"/>
              </a:rPr>
              <a:t>Where the Speedup Comes From</a:t>
            </a:r>
          </a:p>
        </p:txBody>
      </p:sp>
      <p:sp>
        <p:nvSpPr>
          <p:cNvPr id="3" name="TextBox 2"/>
          <p:cNvSpPr txBox="1"/>
          <p:nvPr/>
        </p:nvSpPr>
        <p:spPr>
          <a:xfrm>
            <a:off x="566928" y="868680"/>
            <a:ext cx="10789920" cy="320040"/>
          </a:xfrm>
          <a:prstGeom prst="rect">
            <a:avLst/>
          </a:prstGeom>
          <a:noFill/>
        </p:spPr>
        <p:txBody>
          <a:bodyPr wrap="square">
            <a:spAutoFit/>
          </a:bodyPr>
          <a:lstStyle/>
          <a:p>
            <a:r>
              <a:rPr sz="1250" b="0">
                <a:solidFill>
                  <a:srgbClr val="475569"/>
                </a:solidFill>
                <a:latin typeface="Microsoft YaHei"/>
              </a:rPr>
              <a:t>PI is unchanged; accumulated prefix work is removed.</a:t>
            </a:r>
          </a:p>
        </p:txBody>
      </p:sp>
      <p:sp>
        <p:nvSpPr>
          <p:cNvPr id="4" name="Rectangle 3"/>
          <p:cNvSpPr/>
          <p:nvPr/>
        </p:nvSpPr>
        <p:spPr>
          <a:xfrm>
            <a:off x="548640" y="1161288"/>
            <a:ext cx="110642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600200"/>
            <a:ext cx="4983480" cy="40233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7552" y="1709928"/>
            <a:ext cx="4654296" cy="274320"/>
          </a:xfrm>
          <a:prstGeom prst="rect">
            <a:avLst/>
          </a:prstGeom>
          <a:noFill/>
        </p:spPr>
        <p:txBody>
          <a:bodyPr wrap="square">
            <a:spAutoFit/>
          </a:bodyPr>
          <a:lstStyle/>
          <a:p>
            <a:r>
              <a:rPr sz="1300" b="1">
                <a:solidFill>
                  <a:srgbClr val="0F172A"/>
                </a:solidFill>
                <a:latin typeface="Microsoft YaHei"/>
              </a:rPr>
              <a:t>Old</a:t>
            </a:r>
          </a:p>
        </p:txBody>
      </p:sp>
      <p:sp>
        <p:nvSpPr>
          <p:cNvPr id="7" name="Rounded Rectangle 6"/>
          <p:cNvSpPr/>
          <p:nvPr/>
        </p:nvSpPr>
        <p:spPr>
          <a:xfrm>
            <a:off x="1143000" y="2194560"/>
            <a:ext cx="4297680" cy="64008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Microsoft YaHei"/>
              </a:rPr>
              <a:t>recompute prefix_t + all candidates</a:t>
            </a:r>
          </a:p>
        </p:txBody>
      </p:sp>
      <p:cxnSp>
        <p:nvCxnSpPr>
          <p:cNvPr id="8" name="Connector 7"/>
          <p:cNvCxnSpPr/>
          <p:nvPr/>
        </p:nvCxnSpPr>
        <p:spPr>
          <a:xfrm>
            <a:off x="3291840" y="2971800"/>
            <a:ext cx="0" cy="457200"/>
          </a:xfrm>
          <a:prstGeom prst="line">
            <a:avLst/>
          </a:prstGeom>
          <a:ln w="25400">
            <a:solidFill>
              <a:srgbClr val="DC2626"/>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143000" y="3520440"/>
            <a:ext cx="4297680" cy="64008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Microsoft YaHei"/>
              </a:rPr>
              <a:t>commit [index, value]</a:t>
            </a:r>
          </a:p>
        </p:txBody>
      </p:sp>
      <p:cxnSp>
        <p:nvCxnSpPr>
          <p:cNvPr id="10" name="Connector 9"/>
          <p:cNvCxnSpPr/>
          <p:nvPr/>
        </p:nvCxnSpPr>
        <p:spPr>
          <a:xfrm>
            <a:off x="3291840" y="4297680"/>
            <a:ext cx="0" cy="457200"/>
          </a:xfrm>
          <a:prstGeom prst="line">
            <a:avLst/>
          </a:prstGeom>
          <a:ln w="25400">
            <a:solidFill>
              <a:srgbClr val="DC2626"/>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143000" y="4846320"/>
            <a:ext cx="4297680" cy="50292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Microsoft YaHei"/>
              </a:rPr>
              <a:t>repeat with longer prefix</a:t>
            </a:r>
          </a:p>
        </p:txBody>
      </p:sp>
      <p:sp>
        <p:nvSpPr>
          <p:cNvPr id="12" name="Rounded Rectangle 11"/>
          <p:cNvSpPr/>
          <p:nvPr/>
        </p:nvSpPr>
        <p:spPr>
          <a:xfrm>
            <a:off x="6400800" y="1600200"/>
            <a:ext cx="4983480" cy="40233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65392" y="1709928"/>
            <a:ext cx="4654296" cy="274320"/>
          </a:xfrm>
          <a:prstGeom prst="rect">
            <a:avLst/>
          </a:prstGeom>
          <a:noFill/>
        </p:spPr>
        <p:txBody>
          <a:bodyPr wrap="square">
            <a:spAutoFit/>
          </a:bodyPr>
          <a:lstStyle/>
          <a:p>
            <a:r>
              <a:rPr sz="1300" b="1">
                <a:solidFill>
                  <a:srgbClr val="0F172A"/>
                </a:solidFill>
                <a:latin typeface="Microsoft YaHei"/>
              </a:rPr>
              <a:t>Current</a:t>
            </a:r>
          </a:p>
        </p:txBody>
      </p:sp>
      <p:sp>
        <p:nvSpPr>
          <p:cNvPr id="14" name="Rounded Rectangle 13"/>
          <p:cNvSpPr/>
          <p:nvPr/>
        </p:nvSpPr>
        <p:spPr>
          <a:xfrm>
            <a:off x="6720840" y="2194560"/>
            <a:ext cx="4297680" cy="6400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Microsoft YaHei"/>
              </a:rPr>
              <a:t>build prefix K/V once</a:t>
            </a:r>
          </a:p>
        </p:txBody>
      </p:sp>
      <p:cxnSp>
        <p:nvCxnSpPr>
          <p:cNvPr id="15" name="Connector 14"/>
          <p:cNvCxnSpPr/>
          <p:nvPr/>
        </p:nvCxnSpPr>
        <p:spPr>
          <a:xfrm>
            <a:off x="8869680" y="2971800"/>
            <a:ext cx="0" cy="457200"/>
          </a:xfrm>
          <a:prstGeom prst="line">
            <a:avLst/>
          </a:prstGeom>
          <a:ln w="25400">
            <a:solidFill>
              <a:srgbClr val="2563EB"/>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720840" y="3520440"/>
            <a:ext cx="4297680" cy="64008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Microsoft YaHei"/>
              </a:rPr>
              <a:t>score candidates against cache</a:t>
            </a:r>
          </a:p>
        </p:txBody>
      </p:sp>
      <p:cxnSp>
        <p:nvCxnSpPr>
          <p:cNvPr id="17" name="Connector 16"/>
          <p:cNvCxnSpPr/>
          <p:nvPr/>
        </p:nvCxnSpPr>
        <p:spPr>
          <a:xfrm>
            <a:off x="8869680" y="4297680"/>
            <a:ext cx="0" cy="457200"/>
          </a:xfrm>
          <a:prstGeom prst="line">
            <a:avLst/>
          </a:prstGeom>
          <a:ln w="25400">
            <a:solidFill>
              <a:srgbClr val="2563EB"/>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720840" y="4846320"/>
            <a:ext cx="4297680" cy="50292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Microsoft YaHei"/>
              </a:rPr>
              <a:t>append only [index, value]</a:t>
            </a:r>
          </a:p>
        </p:txBody>
      </p:sp>
      <p:sp>
        <p:nvSpPr>
          <p:cNvPr id="19" name="TextBox 18"/>
          <p:cNvSpPr txBox="1"/>
          <p:nvPr/>
        </p:nvSpPr>
        <p:spPr>
          <a:xfrm>
            <a:off x="1097280" y="5989320"/>
            <a:ext cx="10058400" cy="320040"/>
          </a:xfrm>
          <a:prstGeom prst="rect">
            <a:avLst/>
          </a:prstGeom>
          <a:noFill/>
        </p:spPr>
        <p:txBody>
          <a:bodyPr wrap="square">
            <a:spAutoFit/>
          </a:bodyPr>
          <a:lstStyle/>
          <a:p>
            <a:pPr algn="ctr"/>
            <a:r>
              <a:rPr sz="1350" b="1">
                <a:solidFill>
                  <a:srgbClr val="0F172A"/>
                </a:solidFill>
                <a:latin typeface="Microsoft YaHei"/>
              </a:rPr>
              <a:t>Correct wording: KV-cache speeds up accumulation by avoiding repeated prefix encoding; PI candidate scoring remains parallel and semantically identical.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20040"/>
            <a:ext cx="11064240" cy="502920"/>
          </a:xfrm>
          <a:prstGeom prst="rect">
            <a:avLst/>
          </a:prstGeom>
          <a:noFill/>
        </p:spPr>
        <p:txBody>
          <a:bodyPr wrap="square">
            <a:spAutoFit/>
          </a:bodyPr>
          <a:lstStyle/>
          <a:p>
            <a:r>
              <a:rPr sz="2700" b="1">
                <a:solidFill>
                  <a:srgbClr val="0F172A"/>
                </a:solidFill>
                <a:latin typeface="Microsoft YaHei"/>
              </a:rPr>
              <a:t>Simple Numerical Validation</a:t>
            </a:r>
          </a:p>
        </p:txBody>
      </p:sp>
      <p:sp>
        <p:nvSpPr>
          <p:cNvPr id="3" name="TextBox 2"/>
          <p:cNvSpPr txBox="1"/>
          <p:nvPr/>
        </p:nvSpPr>
        <p:spPr>
          <a:xfrm>
            <a:off x="566928" y="868680"/>
            <a:ext cx="10789920" cy="320040"/>
          </a:xfrm>
          <a:prstGeom prst="rect">
            <a:avLst/>
          </a:prstGeom>
          <a:noFill/>
        </p:spPr>
        <p:txBody>
          <a:bodyPr wrap="square">
            <a:spAutoFit/>
          </a:bodyPr>
          <a:lstStyle/>
          <a:p>
            <a:r>
              <a:rPr sz="1250" b="0">
                <a:solidFill>
                  <a:srgbClr val="475569"/>
                </a:solidFill>
                <a:latin typeface="Microsoft YaHei"/>
              </a:rPr>
              <a:t>Same weights, same inputs, same deterministic trajectory.</a:t>
            </a:r>
          </a:p>
        </p:txBody>
      </p:sp>
      <p:sp>
        <p:nvSpPr>
          <p:cNvPr id="4" name="Rectangle 3"/>
          <p:cNvSpPr/>
          <p:nvPr/>
        </p:nvSpPr>
        <p:spPr>
          <a:xfrm>
            <a:off x="548640" y="1161288"/>
            <a:ext cx="110642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645920"/>
            <a:ext cx="3108960" cy="3383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7552" y="1755648"/>
            <a:ext cx="2779776" cy="274320"/>
          </a:xfrm>
          <a:prstGeom prst="rect">
            <a:avLst/>
          </a:prstGeom>
          <a:noFill/>
        </p:spPr>
        <p:txBody>
          <a:bodyPr wrap="square">
            <a:spAutoFit/>
          </a:bodyPr>
          <a:lstStyle/>
          <a:p>
            <a:r>
              <a:rPr sz="1300" b="1">
                <a:solidFill>
                  <a:srgbClr val="0F172A"/>
                </a:solidFill>
                <a:latin typeface="Microsoft YaHei"/>
              </a:rPr>
              <a:t>Setup</a:t>
            </a:r>
          </a:p>
        </p:txBody>
      </p:sp>
      <p:sp>
        <p:nvSpPr>
          <p:cNvPr id="7" name="TextBox 6"/>
          <p:cNvSpPr txBox="1"/>
          <p:nvPr/>
        </p:nvSpPr>
        <p:spPr>
          <a:xfrm>
            <a:off x="1051560" y="2084831"/>
            <a:ext cx="2606040" cy="1874519"/>
          </a:xfrm>
          <a:prstGeom prst="rect">
            <a:avLst/>
          </a:prstGeom>
          <a:noFill/>
        </p:spPr>
        <p:txBody>
          <a:bodyPr wrap="square">
            <a:spAutoFit/>
          </a:bodyPr>
          <a:lstStyle/>
          <a:p>
            <a:pPr>
              <a:spcAft>
                <a:spcPts val="360"/>
              </a:spcAft>
            </a:pPr>
            <a:r>
              <a:rPr sz="1500">
                <a:solidFill>
                  <a:srgbClr val="0F172A"/>
                </a:solidFill>
                <a:latin typeface="Microsoft YaHei"/>
              </a:rPr>
              <a:t>- CPU only</a:t>
            </a:r>
          </a:p>
          <a:p>
            <a:pPr>
              <a:spcAft>
                <a:spcPts val="360"/>
              </a:spcAft>
            </a:pPr>
            <a:r>
              <a:rPr sz="1500">
                <a:solidFill>
                  <a:srgbClr val="0F172A"/>
                </a:solidFill>
                <a:latin typeface="Microsoft YaHei"/>
              </a:rPr>
              <a:t>- B=16</a:t>
            </a:r>
          </a:p>
          <a:p>
            <a:pPr>
              <a:spcAft>
                <a:spcPts val="360"/>
              </a:spcAft>
            </a:pPr>
            <a:r>
              <a:rPr sz="1500">
                <a:solidFill>
                  <a:srgbClr val="0F172A"/>
                </a:solidFill>
                <a:latin typeface="Microsoft YaHei"/>
              </a:rPr>
              <a:t>- 3 layers, 4 heads</a:t>
            </a:r>
          </a:p>
          <a:p>
            <a:pPr>
              <a:spcAft>
                <a:spcPts val="360"/>
              </a:spcAft>
            </a:pPr>
            <a:r>
              <a:rPr sz="1500">
                <a:solidFill>
                  <a:srgbClr val="0F172A"/>
                </a:solidFill>
                <a:latin typeface="Microsoft YaHei"/>
              </a:rPr>
              <a:t>- embd=128</a:t>
            </a:r>
          </a:p>
          <a:p>
            <a:pPr>
              <a:spcAft>
                <a:spcPts val="360"/>
              </a:spcAft>
            </a:pPr>
            <a:r>
              <a:rPr sz="1500">
                <a:solidFill>
                  <a:srgbClr val="0F172A"/>
                </a:solidFill>
                <a:latin typeface="Microsoft YaHei"/>
              </a:rPr>
              <a:t>- quiz=16, response=36</a:t>
            </a:r>
          </a:p>
        </p:txBody>
      </p:sp>
      <p:sp>
        <p:nvSpPr>
          <p:cNvPr id="8" name="Rounded Rectangle 7"/>
          <p:cNvSpPr/>
          <p:nvPr/>
        </p:nvSpPr>
        <p:spPr>
          <a:xfrm>
            <a:off x="4343400" y="1645920"/>
            <a:ext cx="3337560" cy="3383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07992" y="1755648"/>
            <a:ext cx="3008376" cy="274320"/>
          </a:xfrm>
          <a:prstGeom prst="rect">
            <a:avLst/>
          </a:prstGeom>
          <a:noFill/>
        </p:spPr>
        <p:txBody>
          <a:bodyPr wrap="square">
            <a:spAutoFit/>
          </a:bodyPr>
          <a:lstStyle/>
          <a:p>
            <a:r>
              <a:rPr sz="1300" b="1">
                <a:solidFill>
                  <a:srgbClr val="0F172A"/>
                </a:solidFill>
                <a:latin typeface="Microsoft YaHei"/>
              </a:rPr>
              <a:t>Old vs current recompute</a:t>
            </a:r>
          </a:p>
        </p:txBody>
      </p:sp>
      <p:sp>
        <p:nvSpPr>
          <p:cNvPr id="10" name="TextBox 9"/>
          <p:cNvSpPr txBox="1"/>
          <p:nvPr/>
        </p:nvSpPr>
        <p:spPr>
          <a:xfrm>
            <a:off x="4617720" y="2240280"/>
            <a:ext cx="2651760" cy="320040"/>
          </a:xfrm>
          <a:prstGeom prst="rect">
            <a:avLst/>
          </a:prstGeom>
          <a:noFill/>
        </p:spPr>
        <p:txBody>
          <a:bodyPr wrap="square">
            <a:spAutoFit/>
          </a:bodyPr>
          <a:lstStyle/>
          <a:p>
            <a:r>
              <a:rPr sz="1300" b="0">
                <a:solidFill>
                  <a:srgbClr val="475569"/>
                </a:solidFill>
                <a:latin typeface="Microsoft YaHei"/>
              </a:rPr>
              <a:t>max_abs_diff</a:t>
            </a:r>
          </a:p>
        </p:txBody>
      </p:sp>
      <p:sp>
        <p:nvSpPr>
          <p:cNvPr id="11" name="TextBox 10"/>
          <p:cNvSpPr txBox="1"/>
          <p:nvPr/>
        </p:nvSpPr>
        <p:spPr>
          <a:xfrm>
            <a:off x="4617720" y="2606040"/>
            <a:ext cx="2377440" cy="457200"/>
          </a:xfrm>
          <a:prstGeom prst="rect">
            <a:avLst/>
          </a:prstGeom>
          <a:noFill/>
        </p:spPr>
        <p:txBody>
          <a:bodyPr wrap="square">
            <a:spAutoFit/>
          </a:bodyPr>
          <a:lstStyle/>
          <a:p>
            <a:r>
              <a:rPr sz="3200" b="1">
                <a:solidFill>
                  <a:srgbClr val="16A34A"/>
                </a:solidFill>
                <a:latin typeface="Microsoft YaHei"/>
              </a:rPr>
              <a:t>0</a:t>
            </a:r>
          </a:p>
        </p:txBody>
      </p:sp>
      <p:sp>
        <p:nvSpPr>
          <p:cNvPr id="12" name="TextBox 11"/>
          <p:cNvSpPr txBox="1"/>
          <p:nvPr/>
        </p:nvSpPr>
        <p:spPr>
          <a:xfrm>
            <a:off x="4617720" y="3337560"/>
            <a:ext cx="2651760" cy="320040"/>
          </a:xfrm>
          <a:prstGeom prst="rect">
            <a:avLst/>
          </a:prstGeom>
          <a:noFill/>
        </p:spPr>
        <p:txBody>
          <a:bodyPr wrap="square">
            <a:spAutoFit/>
          </a:bodyPr>
          <a:lstStyle/>
          <a:p>
            <a:r>
              <a:rPr sz="1300" b="0">
                <a:solidFill>
                  <a:srgbClr val="475569"/>
                </a:solidFill>
                <a:latin typeface="Microsoft YaHei"/>
              </a:rPr>
              <a:t>finite masks equal</a:t>
            </a:r>
          </a:p>
        </p:txBody>
      </p:sp>
      <p:sp>
        <p:nvSpPr>
          <p:cNvPr id="13" name="TextBox 12"/>
          <p:cNvSpPr txBox="1"/>
          <p:nvPr/>
        </p:nvSpPr>
        <p:spPr>
          <a:xfrm>
            <a:off x="4617720" y="3703320"/>
            <a:ext cx="2377440" cy="457200"/>
          </a:xfrm>
          <a:prstGeom prst="rect">
            <a:avLst/>
          </a:prstGeom>
          <a:noFill/>
        </p:spPr>
        <p:txBody>
          <a:bodyPr wrap="square">
            <a:spAutoFit/>
          </a:bodyPr>
          <a:lstStyle/>
          <a:p>
            <a:r>
              <a:rPr sz="2600" b="1">
                <a:solidFill>
                  <a:srgbClr val="16A34A"/>
                </a:solidFill>
                <a:latin typeface="Microsoft YaHei"/>
              </a:rPr>
              <a:t>True</a:t>
            </a:r>
          </a:p>
        </p:txBody>
      </p:sp>
      <p:sp>
        <p:nvSpPr>
          <p:cNvPr id="14" name="Rounded Rectangle 13"/>
          <p:cNvSpPr/>
          <p:nvPr/>
        </p:nvSpPr>
        <p:spPr>
          <a:xfrm>
            <a:off x="8046720" y="1645920"/>
            <a:ext cx="3337560" cy="3383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1755648"/>
            <a:ext cx="3008376" cy="274320"/>
          </a:xfrm>
          <a:prstGeom prst="rect">
            <a:avLst/>
          </a:prstGeom>
          <a:noFill/>
        </p:spPr>
        <p:txBody>
          <a:bodyPr wrap="square">
            <a:spAutoFit/>
          </a:bodyPr>
          <a:lstStyle/>
          <a:p>
            <a:r>
              <a:rPr sz="1300" b="1">
                <a:solidFill>
                  <a:srgbClr val="0F172A"/>
                </a:solidFill>
                <a:latin typeface="Microsoft YaHei"/>
              </a:rPr>
              <a:t>Current recompute vs cache</a:t>
            </a:r>
          </a:p>
        </p:txBody>
      </p:sp>
      <p:sp>
        <p:nvSpPr>
          <p:cNvPr id="16" name="TextBox 15"/>
          <p:cNvSpPr txBox="1"/>
          <p:nvPr/>
        </p:nvSpPr>
        <p:spPr>
          <a:xfrm>
            <a:off x="8321040" y="2240280"/>
            <a:ext cx="2651760" cy="320040"/>
          </a:xfrm>
          <a:prstGeom prst="rect">
            <a:avLst/>
          </a:prstGeom>
          <a:noFill/>
        </p:spPr>
        <p:txBody>
          <a:bodyPr wrap="square">
            <a:spAutoFit/>
          </a:bodyPr>
          <a:lstStyle/>
          <a:p>
            <a:r>
              <a:rPr sz="1300" b="0">
                <a:solidFill>
                  <a:srgbClr val="475569"/>
                </a:solidFill>
                <a:latin typeface="Microsoft YaHei"/>
              </a:rPr>
              <a:t>max_abs_diff</a:t>
            </a:r>
          </a:p>
        </p:txBody>
      </p:sp>
      <p:sp>
        <p:nvSpPr>
          <p:cNvPr id="17" name="TextBox 16"/>
          <p:cNvSpPr txBox="1"/>
          <p:nvPr/>
        </p:nvSpPr>
        <p:spPr>
          <a:xfrm>
            <a:off x="8321040" y="2606040"/>
            <a:ext cx="2377440" cy="457200"/>
          </a:xfrm>
          <a:prstGeom prst="rect">
            <a:avLst/>
          </a:prstGeom>
          <a:noFill/>
        </p:spPr>
        <p:txBody>
          <a:bodyPr wrap="square">
            <a:spAutoFit/>
          </a:bodyPr>
          <a:lstStyle/>
          <a:p>
            <a:r>
              <a:rPr sz="2500" b="1">
                <a:solidFill>
                  <a:srgbClr val="16A34A"/>
                </a:solidFill>
                <a:latin typeface="Microsoft YaHei"/>
              </a:rPr>
              <a:t>4.77e-07</a:t>
            </a:r>
          </a:p>
        </p:txBody>
      </p:sp>
      <p:sp>
        <p:nvSpPr>
          <p:cNvPr id="18" name="TextBox 17"/>
          <p:cNvSpPr txBox="1"/>
          <p:nvPr/>
        </p:nvSpPr>
        <p:spPr>
          <a:xfrm>
            <a:off x="8321040" y="3337560"/>
            <a:ext cx="2651760" cy="320040"/>
          </a:xfrm>
          <a:prstGeom prst="rect">
            <a:avLst/>
          </a:prstGeom>
          <a:noFill/>
        </p:spPr>
        <p:txBody>
          <a:bodyPr wrap="square">
            <a:spAutoFit/>
          </a:bodyPr>
          <a:lstStyle/>
          <a:p>
            <a:r>
              <a:rPr sz="1300" b="0">
                <a:solidFill>
                  <a:srgbClr val="475569"/>
                </a:solidFill>
                <a:latin typeface="Microsoft YaHei"/>
              </a:rPr>
              <a:t>finite masks equal</a:t>
            </a:r>
          </a:p>
        </p:txBody>
      </p:sp>
      <p:sp>
        <p:nvSpPr>
          <p:cNvPr id="19" name="TextBox 18"/>
          <p:cNvSpPr txBox="1"/>
          <p:nvPr/>
        </p:nvSpPr>
        <p:spPr>
          <a:xfrm>
            <a:off x="8321040" y="3703320"/>
            <a:ext cx="2377440" cy="457200"/>
          </a:xfrm>
          <a:prstGeom prst="rect">
            <a:avLst/>
          </a:prstGeom>
          <a:noFill/>
        </p:spPr>
        <p:txBody>
          <a:bodyPr wrap="square">
            <a:spAutoFit/>
          </a:bodyPr>
          <a:lstStyle/>
          <a:p>
            <a:r>
              <a:rPr sz="2600" b="1">
                <a:solidFill>
                  <a:srgbClr val="16A34A"/>
                </a:solidFill>
                <a:latin typeface="Microsoft YaHei"/>
              </a:rPr>
              <a:t>True</a:t>
            </a:r>
          </a:p>
        </p:txBody>
      </p:sp>
      <p:sp>
        <p:nvSpPr>
          <p:cNvPr id="20" name="TextBox 19"/>
          <p:cNvSpPr txBox="1"/>
          <p:nvPr/>
        </p:nvSpPr>
        <p:spPr>
          <a:xfrm>
            <a:off x="914400" y="5669280"/>
            <a:ext cx="10241280" cy="320040"/>
          </a:xfrm>
          <a:prstGeom prst="rect">
            <a:avLst/>
          </a:prstGeom>
          <a:noFill/>
        </p:spPr>
        <p:txBody>
          <a:bodyPr wrap="square">
            <a:spAutoFit/>
          </a:bodyPr>
          <a:lstStyle/>
          <a:p>
            <a:pPr algn="ctr"/>
            <a:r>
              <a:rPr sz="1500" b="1">
                <a:solidFill>
                  <a:srgbClr val="0F172A"/>
                </a:solidFill>
                <a:latin typeface="Microsoft YaHei"/>
              </a:rPr>
              <a:t>Interpretation: cache path is numerically equivalent within normal floating point roundoff.</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20040"/>
            <a:ext cx="11064240" cy="502920"/>
          </a:xfrm>
          <a:prstGeom prst="rect">
            <a:avLst/>
          </a:prstGeom>
          <a:noFill/>
        </p:spPr>
        <p:txBody>
          <a:bodyPr wrap="square">
            <a:spAutoFit/>
          </a:bodyPr>
          <a:lstStyle/>
          <a:p>
            <a:r>
              <a:rPr sz="2700" b="1">
                <a:solidFill>
                  <a:srgbClr val="0F172A"/>
                </a:solidFill>
                <a:latin typeface="Microsoft YaHei"/>
              </a:rPr>
              <a:t>Simple Speed Comparison</a:t>
            </a:r>
          </a:p>
        </p:txBody>
      </p:sp>
      <p:sp>
        <p:nvSpPr>
          <p:cNvPr id="3" name="TextBox 2"/>
          <p:cNvSpPr txBox="1"/>
          <p:nvPr/>
        </p:nvSpPr>
        <p:spPr>
          <a:xfrm>
            <a:off x="566928" y="868680"/>
            <a:ext cx="10789920" cy="320040"/>
          </a:xfrm>
          <a:prstGeom prst="rect">
            <a:avLst/>
          </a:prstGeom>
          <a:noFill/>
        </p:spPr>
        <p:txBody>
          <a:bodyPr wrap="square">
            <a:spAutoFit/>
          </a:bodyPr>
          <a:lstStyle/>
          <a:p>
            <a:r>
              <a:rPr sz="1250" b="0">
                <a:solidFill>
                  <a:srgbClr val="475569"/>
                </a:solidFill>
                <a:latin typeface="Microsoft YaHei"/>
              </a:rPr>
              <a:t>CPU toy benchmark; directional, not a formal GPU result.</a:t>
            </a:r>
          </a:p>
        </p:txBody>
      </p:sp>
      <p:sp>
        <p:nvSpPr>
          <p:cNvPr id="4" name="Rectangle 3"/>
          <p:cNvSpPr/>
          <p:nvPr/>
        </p:nvSpPr>
        <p:spPr>
          <a:xfrm>
            <a:off x="548640" y="1161288"/>
            <a:ext cx="110642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80160" y="1970868"/>
            <a:ext cx="2240280" cy="3012611"/>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1623396"/>
            <a:ext cx="2240280" cy="274320"/>
          </a:xfrm>
          <a:prstGeom prst="rect">
            <a:avLst/>
          </a:prstGeom>
          <a:noFill/>
        </p:spPr>
        <p:txBody>
          <a:bodyPr wrap="square">
            <a:spAutoFit/>
          </a:bodyPr>
          <a:lstStyle/>
          <a:p>
            <a:pPr algn="ctr"/>
            <a:r>
              <a:rPr sz="1400" b="1">
                <a:solidFill>
                  <a:srgbClr val="0F172A"/>
                </a:solidFill>
                <a:latin typeface="Microsoft YaHei"/>
              </a:rPr>
              <a:t>1166.1 ms</a:t>
            </a:r>
          </a:p>
        </p:txBody>
      </p:sp>
      <p:sp>
        <p:nvSpPr>
          <p:cNvPr id="7" name="TextBox 6"/>
          <p:cNvSpPr txBox="1"/>
          <p:nvPr/>
        </p:nvSpPr>
        <p:spPr>
          <a:xfrm>
            <a:off x="1188719" y="5148072"/>
            <a:ext cx="2423160" cy="384048"/>
          </a:xfrm>
          <a:prstGeom prst="rect">
            <a:avLst/>
          </a:prstGeom>
          <a:noFill/>
        </p:spPr>
        <p:txBody>
          <a:bodyPr wrap="square">
            <a:spAutoFit/>
          </a:bodyPr>
          <a:lstStyle/>
          <a:p>
            <a:pPr algn="ctr"/>
            <a:r>
              <a:rPr sz="1200" b="0">
                <a:solidFill>
                  <a:srgbClr val="0F172A"/>
                </a:solidFill>
                <a:latin typeface="Microsoft YaHei"/>
              </a:rPr>
              <a:t>old recompute</a:t>
            </a:r>
          </a:p>
        </p:txBody>
      </p:sp>
      <p:sp>
        <p:nvSpPr>
          <p:cNvPr id="8" name="Rectangle 7"/>
          <p:cNvSpPr/>
          <p:nvPr/>
        </p:nvSpPr>
        <p:spPr>
          <a:xfrm>
            <a:off x="4526279" y="1965960"/>
            <a:ext cx="2240280" cy="3017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79" y="1618488"/>
            <a:ext cx="2240280" cy="274320"/>
          </a:xfrm>
          <a:prstGeom prst="rect">
            <a:avLst/>
          </a:prstGeom>
          <a:noFill/>
        </p:spPr>
        <p:txBody>
          <a:bodyPr wrap="square">
            <a:spAutoFit/>
          </a:bodyPr>
          <a:lstStyle/>
          <a:p>
            <a:pPr algn="ctr"/>
            <a:r>
              <a:rPr sz="1400" b="1">
                <a:solidFill>
                  <a:srgbClr val="0F172A"/>
                </a:solidFill>
                <a:latin typeface="Microsoft YaHei"/>
              </a:rPr>
              <a:t>1168.0 ms</a:t>
            </a:r>
          </a:p>
        </p:txBody>
      </p:sp>
      <p:sp>
        <p:nvSpPr>
          <p:cNvPr id="10" name="TextBox 9"/>
          <p:cNvSpPr txBox="1"/>
          <p:nvPr/>
        </p:nvSpPr>
        <p:spPr>
          <a:xfrm>
            <a:off x="4434840" y="5148072"/>
            <a:ext cx="2423160" cy="384048"/>
          </a:xfrm>
          <a:prstGeom prst="rect">
            <a:avLst/>
          </a:prstGeom>
          <a:noFill/>
        </p:spPr>
        <p:txBody>
          <a:bodyPr wrap="square">
            <a:spAutoFit/>
          </a:bodyPr>
          <a:lstStyle/>
          <a:p>
            <a:pPr algn="ctr"/>
            <a:r>
              <a:rPr sz="1200" b="0">
                <a:solidFill>
                  <a:srgbClr val="0F172A"/>
                </a:solidFill>
                <a:latin typeface="Microsoft YaHei"/>
              </a:rPr>
              <a:t>current recompute</a:t>
            </a:r>
          </a:p>
        </p:txBody>
      </p:sp>
      <p:sp>
        <p:nvSpPr>
          <p:cNvPr id="11" name="Rectangle 10"/>
          <p:cNvSpPr/>
          <p:nvPr/>
        </p:nvSpPr>
        <p:spPr>
          <a:xfrm>
            <a:off x="7772400" y="2560938"/>
            <a:ext cx="2240280" cy="2422541"/>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0" y="2213466"/>
            <a:ext cx="2240280" cy="274320"/>
          </a:xfrm>
          <a:prstGeom prst="rect">
            <a:avLst/>
          </a:prstGeom>
          <a:noFill/>
        </p:spPr>
        <p:txBody>
          <a:bodyPr wrap="square">
            <a:spAutoFit/>
          </a:bodyPr>
          <a:lstStyle/>
          <a:p>
            <a:pPr algn="ctr"/>
            <a:r>
              <a:rPr sz="1400" b="1">
                <a:solidFill>
                  <a:srgbClr val="0F172A"/>
                </a:solidFill>
                <a:latin typeface="Microsoft YaHei"/>
              </a:rPr>
              <a:t>937.7 ms</a:t>
            </a:r>
          </a:p>
        </p:txBody>
      </p:sp>
      <p:sp>
        <p:nvSpPr>
          <p:cNvPr id="13" name="TextBox 12"/>
          <p:cNvSpPr txBox="1"/>
          <p:nvPr/>
        </p:nvSpPr>
        <p:spPr>
          <a:xfrm>
            <a:off x="7680960" y="5148072"/>
            <a:ext cx="2423160" cy="384048"/>
          </a:xfrm>
          <a:prstGeom prst="rect">
            <a:avLst/>
          </a:prstGeom>
          <a:noFill/>
        </p:spPr>
        <p:txBody>
          <a:bodyPr wrap="square">
            <a:spAutoFit/>
          </a:bodyPr>
          <a:lstStyle/>
          <a:p>
            <a:pPr algn="ctr"/>
            <a:r>
              <a:rPr sz="1200" b="0">
                <a:solidFill>
                  <a:srgbClr val="0F172A"/>
                </a:solidFill>
                <a:latin typeface="Microsoft YaHei"/>
              </a:rPr>
              <a:t>current KV-cache</a:t>
            </a:r>
          </a:p>
        </p:txBody>
      </p:sp>
      <p:sp>
        <p:nvSpPr>
          <p:cNvPr id="14" name="Rounded Rectangle 13"/>
          <p:cNvSpPr/>
          <p:nvPr/>
        </p:nvSpPr>
        <p:spPr>
          <a:xfrm>
            <a:off x="914400" y="1325880"/>
            <a:ext cx="10332720" cy="685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1508760"/>
            <a:ext cx="9875520" cy="274320"/>
          </a:xfrm>
          <a:prstGeom prst="rect">
            <a:avLst/>
          </a:prstGeom>
          <a:noFill/>
        </p:spPr>
        <p:txBody>
          <a:bodyPr wrap="square">
            <a:spAutoFit/>
          </a:bodyPr>
          <a:lstStyle/>
          <a:p>
            <a:pPr algn="ctr"/>
            <a:r>
              <a:rPr sz="1550" b="1">
                <a:solidFill>
                  <a:srgbClr val="0F172A"/>
                </a:solidFill>
                <a:latin typeface="Microsoft YaHei"/>
              </a:rPr>
              <a:t>Result: current recompute ~= old recompute; KV-cache is ~1.25x faster in this local CPU sanity benchmark.</a:t>
            </a:r>
          </a:p>
        </p:txBody>
      </p:sp>
      <p:sp>
        <p:nvSpPr>
          <p:cNvPr id="16" name="TextBox 15"/>
          <p:cNvSpPr txBox="1"/>
          <p:nvPr/>
        </p:nvSpPr>
        <p:spPr>
          <a:xfrm>
            <a:off x="914400" y="6080760"/>
            <a:ext cx="10241280" cy="274320"/>
          </a:xfrm>
          <a:prstGeom prst="rect">
            <a:avLst/>
          </a:prstGeom>
          <a:noFill/>
        </p:spPr>
        <p:txBody>
          <a:bodyPr wrap="square">
            <a:spAutoFit/>
          </a:bodyPr>
          <a:lstStyle/>
          <a:p>
            <a:pPr algn="ctr"/>
            <a:r>
              <a:rPr sz="1400" b="1">
                <a:solidFill>
                  <a:srgbClr val="EA580C"/>
                </a:solidFill>
                <a:latin typeface="Microsoft YaHei"/>
              </a:rPr>
              <a:t>Takeaway: the speedup is prefix-cache reuse, not a PI semantics change.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20040"/>
            <a:ext cx="11064240" cy="502920"/>
          </a:xfrm>
          <a:prstGeom prst="rect">
            <a:avLst/>
          </a:prstGeom>
          <a:noFill/>
        </p:spPr>
        <p:txBody>
          <a:bodyPr wrap="square">
            <a:spAutoFit/>
          </a:bodyPr>
          <a:lstStyle/>
          <a:p>
            <a:r>
              <a:rPr sz="2700" b="1">
                <a:solidFill>
                  <a:srgbClr val="0F172A"/>
                </a:solidFill>
                <a:latin typeface="Microsoft YaHei"/>
              </a:rPr>
              <a:t>What Changed vs What Did Not</a:t>
            </a:r>
          </a:p>
        </p:txBody>
      </p:sp>
      <p:sp>
        <p:nvSpPr>
          <p:cNvPr id="3" name="TextBox 2"/>
          <p:cNvSpPr txBox="1"/>
          <p:nvPr/>
        </p:nvSpPr>
        <p:spPr>
          <a:xfrm>
            <a:off x="566928" y="868680"/>
            <a:ext cx="10789920" cy="320040"/>
          </a:xfrm>
          <a:prstGeom prst="rect">
            <a:avLst/>
          </a:prstGeom>
          <a:noFill/>
        </p:spPr>
        <p:txBody>
          <a:bodyPr wrap="square">
            <a:spAutoFit/>
          </a:bodyPr>
          <a:lstStyle/>
          <a:p>
            <a:r>
              <a:rPr sz="1250" b="0">
                <a:solidFill>
                  <a:srgbClr val="475569"/>
                </a:solidFill>
                <a:latin typeface="Microsoft YaHei"/>
              </a:rPr>
              <a:t>Use this split when explaining the code review.</a:t>
            </a:r>
          </a:p>
        </p:txBody>
      </p:sp>
      <p:sp>
        <p:nvSpPr>
          <p:cNvPr id="4" name="Rectangle 3"/>
          <p:cNvSpPr/>
          <p:nvPr/>
        </p:nvSpPr>
        <p:spPr>
          <a:xfrm>
            <a:off x="548640" y="1161288"/>
            <a:ext cx="110642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600200"/>
            <a:ext cx="5257800"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41832" y="1709928"/>
            <a:ext cx="4928616" cy="274320"/>
          </a:xfrm>
          <a:prstGeom prst="rect">
            <a:avLst/>
          </a:prstGeom>
          <a:noFill/>
        </p:spPr>
        <p:txBody>
          <a:bodyPr wrap="square">
            <a:spAutoFit/>
          </a:bodyPr>
          <a:lstStyle/>
          <a:p>
            <a:r>
              <a:rPr sz="1300" b="1">
                <a:solidFill>
                  <a:srgbClr val="0F172A"/>
                </a:solidFill>
                <a:latin typeface="Microsoft YaHei"/>
              </a:rPr>
              <a:t>Changed</a:t>
            </a:r>
          </a:p>
        </p:txBody>
      </p:sp>
      <p:sp>
        <p:nvSpPr>
          <p:cNvPr id="7" name="TextBox 6"/>
          <p:cNvSpPr txBox="1"/>
          <p:nvPr/>
        </p:nvSpPr>
        <p:spPr>
          <a:xfrm>
            <a:off x="1024128" y="2057400"/>
            <a:ext cx="4663440" cy="2743200"/>
          </a:xfrm>
          <a:prstGeom prst="rect">
            <a:avLst/>
          </a:prstGeom>
          <a:noFill/>
        </p:spPr>
        <p:txBody>
          <a:bodyPr wrap="square">
            <a:spAutoFit/>
          </a:bodyPr>
          <a:lstStyle/>
          <a:p>
            <a:pPr>
              <a:spcAft>
                <a:spcPts val="360"/>
              </a:spcAft>
            </a:pPr>
            <a:r>
              <a:rPr sz="1600">
                <a:solidFill>
                  <a:srgbClr val="0F172A"/>
                </a:solidFill>
                <a:latin typeface="Microsoft YaHei"/>
              </a:rPr>
              <a:t>- Added prefix K/V cache construction.</a:t>
            </a:r>
          </a:p>
          <a:p>
            <a:pPr>
              <a:spcAft>
                <a:spcPts val="360"/>
              </a:spcAft>
            </a:pPr>
            <a:r>
              <a:rPr sz="1600">
                <a:solidFill>
                  <a:srgbClr val="0F172A"/>
                </a:solidFill>
                <a:latin typeface="Microsoft YaHei"/>
              </a:rPr>
              <a:t>- Added incremental cache append.</a:t>
            </a:r>
          </a:p>
          <a:p>
            <a:pPr>
              <a:spcAft>
                <a:spcPts val="360"/>
              </a:spcAft>
            </a:pPr>
            <a:r>
              <a:rPr sz="1600">
                <a:solidFill>
                  <a:srgbClr val="0F172A"/>
                </a:solidFill>
                <a:latin typeface="Microsoft YaHei"/>
              </a:rPr>
              <a:t>- Added cached PI scorer.</a:t>
            </a:r>
          </a:p>
          <a:p>
            <a:pPr>
              <a:spcAft>
                <a:spcPts val="360"/>
              </a:spcAft>
            </a:pPr>
            <a:r>
              <a:rPr sz="1600">
                <a:solidFill>
                  <a:srgbClr val="0F172A"/>
                </a:solidFill>
                <a:latin typeface="Microsoft YaHei"/>
              </a:rPr>
              <a:t>- Generation and regeneration can select cache path.</a:t>
            </a:r>
          </a:p>
        </p:txBody>
      </p:sp>
      <p:sp>
        <p:nvSpPr>
          <p:cNvPr id="8" name="Rounded Rectangle 7"/>
          <p:cNvSpPr/>
          <p:nvPr/>
        </p:nvSpPr>
        <p:spPr>
          <a:xfrm>
            <a:off x="6355080" y="1600200"/>
            <a:ext cx="5074920"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19672" y="1709928"/>
            <a:ext cx="4745736" cy="274320"/>
          </a:xfrm>
          <a:prstGeom prst="rect">
            <a:avLst/>
          </a:prstGeom>
          <a:noFill/>
        </p:spPr>
        <p:txBody>
          <a:bodyPr wrap="square">
            <a:spAutoFit/>
          </a:bodyPr>
          <a:lstStyle/>
          <a:p>
            <a:r>
              <a:rPr sz="1300" b="1">
                <a:solidFill>
                  <a:srgbClr val="0F172A"/>
                </a:solidFill>
                <a:latin typeface="Microsoft YaHei"/>
              </a:rPr>
              <a:t>Did not change</a:t>
            </a:r>
          </a:p>
        </p:txBody>
      </p:sp>
      <p:sp>
        <p:nvSpPr>
          <p:cNvPr id="10" name="TextBox 9"/>
          <p:cNvSpPr txBox="1"/>
          <p:nvPr/>
        </p:nvSpPr>
        <p:spPr>
          <a:xfrm>
            <a:off x="6601968" y="2057400"/>
            <a:ext cx="4526280" cy="2743200"/>
          </a:xfrm>
          <a:prstGeom prst="rect">
            <a:avLst/>
          </a:prstGeom>
          <a:noFill/>
        </p:spPr>
        <p:txBody>
          <a:bodyPr wrap="square">
            <a:spAutoFit/>
          </a:bodyPr>
          <a:lstStyle/>
          <a:p>
            <a:pPr>
              <a:spcAft>
                <a:spcPts val="360"/>
              </a:spcAft>
            </a:pPr>
            <a:r>
              <a:rPr sz="1600">
                <a:solidFill>
                  <a:srgbClr val="0F172A"/>
                </a:solidFill>
                <a:latin typeface="Microsoft YaHei"/>
              </a:rPr>
              <a:t>- Single-index visibility rule.</a:t>
            </a:r>
          </a:p>
          <a:p>
            <a:pPr>
              <a:spcAft>
                <a:spcPts val="360"/>
              </a:spcAft>
            </a:pPr>
            <a:r>
              <a:rPr sz="1600">
                <a:solidFill>
                  <a:srgbClr val="0F172A"/>
                </a:solidFill>
                <a:latin typeface="Microsoft YaHei"/>
              </a:rPr>
              <a:t>- Candidate index isolation.</a:t>
            </a:r>
          </a:p>
          <a:p>
            <a:pPr>
              <a:spcAft>
                <a:spcPts val="360"/>
              </a:spcAft>
            </a:pPr>
            <a:r>
              <a:rPr sz="1600">
                <a:solidFill>
                  <a:srgbClr val="0F172A"/>
                </a:solidFill>
                <a:latin typeface="Microsoft YaHei"/>
              </a:rPr>
              <a:t>- PI position-choice semantics.</a:t>
            </a:r>
          </a:p>
          <a:p>
            <a:pPr>
              <a:spcAft>
                <a:spcPts val="360"/>
              </a:spcAft>
            </a:pPr>
            <a:r>
              <a:rPr sz="1600">
                <a:solidFill>
                  <a:srgbClr val="0F172A"/>
                </a:solidFill>
                <a:latin typeface="Microsoft YaHei"/>
              </a:rPr>
              <a:t>- Candidate value logits surface.</a:t>
            </a:r>
          </a:p>
        </p:txBody>
      </p:sp>
      <p:sp>
        <p:nvSpPr>
          <p:cNvPr id="11" name="TextBox 10"/>
          <p:cNvSpPr txBox="1"/>
          <p:nvPr/>
        </p:nvSpPr>
        <p:spPr>
          <a:xfrm>
            <a:off x="914400" y="6080760"/>
            <a:ext cx="10058400" cy="256032"/>
          </a:xfrm>
          <a:prstGeom prst="rect">
            <a:avLst/>
          </a:prstGeom>
          <a:noFill/>
        </p:spPr>
        <p:txBody>
          <a:bodyPr wrap="square">
            <a:spAutoFit/>
          </a:bodyPr>
          <a:lstStyle/>
          <a:p>
            <a:pPr algn="ctr"/>
            <a:r>
              <a:rPr sz="1250" b="0">
                <a:solidFill>
                  <a:srgbClr val="475569"/>
                </a:solidFill>
                <a:latin typeface="Microsoft YaHei"/>
              </a:rPr>
              <a:t>Caveats: RoPE and grouped-index scoring are new optional paths; decode-time logit masks are separate from attention masks.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20040"/>
            <a:ext cx="11064240" cy="502920"/>
          </a:xfrm>
          <a:prstGeom prst="rect">
            <a:avLst/>
          </a:prstGeom>
          <a:noFill/>
        </p:spPr>
        <p:txBody>
          <a:bodyPr wrap="square">
            <a:spAutoFit/>
          </a:bodyPr>
          <a:lstStyle/>
          <a:p>
            <a:r>
              <a:rPr sz="2700" b="1">
                <a:solidFill>
                  <a:srgbClr val="0F172A"/>
                </a:solidFill>
                <a:latin typeface="Microsoft YaHei"/>
              </a:rPr>
              <a:t>Suggested Explanation</a:t>
            </a:r>
          </a:p>
        </p:txBody>
      </p:sp>
      <p:sp>
        <p:nvSpPr>
          <p:cNvPr id="3" name="TextBox 2"/>
          <p:cNvSpPr txBox="1"/>
          <p:nvPr/>
        </p:nvSpPr>
        <p:spPr>
          <a:xfrm>
            <a:off x="566928" y="868680"/>
            <a:ext cx="10789920" cy="320040"/>
          </a:xfrm>
          <a:prstGeom prst="rect">
            <a:avLst/>
          </a:prstGeom>
          <a:noFill/>
        </p:spPr>
        <p:txBody>
          <a:bodyPr wrap="square">
            <a:spAutoFit/>
          </a:bodyPr>
          <a:lstStyle/>
          <a:p>
            <a:r>
              <a:rPr sz="1250" b="0">
                <a:solidFill>
                  <a:srgbClr val="475569"/>
                </a:solidFill>
                <a:latin typeface="Microsoft YaHei"/>
              </a:rPr>
              <a:t>A compact script for alignment discussion.</a:t>
            </a:r>
          </a:p>
        </p:txBody>
      </p:sp>
      <p:sp>
        <p:nvSpPr>
          <p:cNvPr id="4" name="Rectangle 3"/>
          <p:cNvSpPr/>
          <p:nvPr/>
        </p:nvSpPr>
        <p:spPr>
          <a:xfrm>
            <a:off x="548640" y="1161288"/>
            <a:ext cx="110642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68680" y="1508760"/>
            <a:ext cx="10469880"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1920240"/>
            <a:ext cx="9738360" cy="2743200"/>
          </a:xfrm>
          <a:prstGeom prst="rect">
            <a:avLst/>
          </a:prstGeom>
          <a:noFill/>
        </p:spPr>
        <p:txBody>
          <a:bodyPr wrap="square">
            <a:spAutoFit/>
          </a:bodyPr>
          <a:lstStyle/>
          <a:p>
            <a:r>
              <a:rPr sz="2000" b="0">
                <a:solidFill>
                  <a:srgbClr val="0F172A"/>
                </a:solidFill>
                <a:latin typeface="Microsoft YaHei"/>
              </a:rPr>
              <a:t>Our current code is an incremental implementation of the same PI scorer. The original code recomputed the entire serialized prefix plus all candidate index tokens at every step. The new code caches the prefix K/V once, scores the same candidate index block against that cache using the same index-isolating visibility mask, and after selecting one position appends only the committed [index, value] pair. Therefore the mathematical scorer is the same; the speedup comes from eliminating repeated prefix computation.</a:t>
            </a:r>
          </a:p>
        </p:txBody>
      </p:sp>
      <p:sp>
        <p:nvSpPr>
          <p:cNvPr id="7" name="TextBox 6"/>
          <p:cNvSpPr txBox="1"/>
          <p:nvPr/>
        </p:nvSpPr>
        <p:spPr>
          <a:xfrm>
            <a:off x="1234440" y="5166360"/>
            <a:ext cx="9738360" cy="320040"/>
          </a:xfrm>
          <a:prstGeom prst="rect">
            <a:avLst/>
          </a:prstGeom>
          <a:noFill/>
        </p:spPr>
        <p:txBody>
          <a:bodyPr wrap="square">
            <a:spAutoFit/>
          </a:bodyPr>
          <a:lstStyle/>
          <a:p>
            <a:pPr algn="ctr"/>
            <a:r>
              <a:rPr sz="2000" b="1">
                <a:solidFill>
                  <a:srgbClr val="16A34A"/>
                </a:solidFill>
                <a:latin typeface="Microsoft YaHei"/>
              </a:rPr>
              <a:t>Bottom line: same PI, same mask, incremental prefix cache.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